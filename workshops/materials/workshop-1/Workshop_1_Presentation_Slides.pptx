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7b7bb23c1244b65" /><Relationship Type="http://schemas.openxmlformats.org/officeDocument/2006/relationships/extended-properties" Target="/docProps/app.xml" Id="Rb83d84882eb34a74" /><Relationship Type="http://schemas.openxmlformats.org/officeDocument/2006/relationships/officeDocument" Target="/ppt/presentation.xml" Id="R544dc65d05f7474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7e70136edb34239"/>
  </p:sldMasterIdLst>
  <p:notesMasterIdLst>
    <p:notesMasterId xmlns:r="http://schemas.openxmlformats.org/officeDocument/2006/relationships" r:id="Rebfb72852a704a69"/>
  </p:notesMasterIdLst>
  <p:sldIdLst>
    <p:sldId xmlns:r="http://schemas.openxmlformats.org/officeDocument/2006/relationships" id="256" r:id="Rdccb2be47a42439c"/>
    <p:sldId xmlns:r="http://schemas.openxmlformats.org/officeDocument/2006/relationships" id="257" r:id="Re87a2144fefd4351"/>
    <p:sldId xmlns:r="http://schemas.openxmlformats.org/officeDocument/2006/relationships" id="258" r:id="Rc934cc728fb5456d"/>
    <p:sldId xmlns:r="http://schemas.openxmlformats.org/officeDocument/2006/relationships" id="259" r:id="Rb596c07467494724"/>
    <p:sldId xmlns:r="http://schemas.openxmlformats.org/officeDocument/2006/relationships" id="260" r:id="R9fba4abb8e3d4aa1"/>
    <p:sldId xmlns:r="http://schemas.openxmlformats.org/officeDocument/2006/relationships" id="261" r:id="R0e737ac66e8144ea"/>
    <p:sldId xmlns:r="http://schemas.openxmlformats.org/officeDocument/2006/relationships" id="262" r:id="R7ebb35f32b334bcd"/>
    <p:sldId xmlns:r="http://schemas.openxmlformats.org/officeDocument/2006/relationships" id="263" r:id="Rb70077600733497e"/>
    <p:sldId xmlns:r="http://schemas.openxmlformats.org/officeDocument/2006/relationships" id="264" r:id="R347fb712159f4251"/>
    <p:sldId xmlns:r="http://schemas.openxmlformats.org/officeDocument/2006/relationships" id="265" r:id="R91b6ec83409a4f1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26f055d9cdf4739" /><Relationship Type="http://schemas.openxmlformats.org/officeDocument/2006/relationships/slideMaster" Target="/ppt/slideMasters/slideMaster1.xml" Id="Rc7e70136edb34239" /><Relationship Type="http://schemas.openxmlformats.org/officeDocument/2006/relationships/notesMaster" Target="/ppt/notesMasters/notesMaster1.xml" Id="Rebfb72852a704a69" /><Relationship Type="http://schemas.openxmlformats.org/officeDocument/2006/relationships/presProps" Target="/ppt/presProps.xml" Id="R4191b2d6ed4e444f" /><Relationship Type="http://schemas.openxmlformats.org/officeDocument/2006/relationships/tableStyles" Target="/ppt/tableStyles.xml" Id="Rc7c8c9b719234a21" /><Relationship Type="http://schemas.openxmlformats.org/officeDocument/2006/relationships/slide" Target="/ppt/slides/slide1.xml" Id="Rdccb2be47a42439c" /><Relationship Type="http://schemas.openxmlformats.org/officeDocument/2006/relationships/slide" Target="/ppt/slides/slide2.xml" Id="Re87a2144fefd4351" /><Relationship Type="http://schemas.openxmlformats.org/officeDocument/2006/relationships/slide" Target="/ppt/slides/slide3.xml" Id="Rc934cc728fb5456d" /><Relationship Type="http://schemas.openxmlformats.org/officeDocument/2006/relationships/slide" Target="/ppt/slides/slide4.xml" Id="Rb596c07467494724" /><Relationship Type="http://schemas.openxmlformats.org/officeDocument/2006/relationships/slide" Target="/ppt/slides/slide5.xml" Id="R9fba4abb8e3d4aa1" /><Relationship Type="http://schemas.openxmlformats.org/officeDocument/2006/relationships/slide" Target="/ppt/slides/slide6.xml" Id="R0e737ac66e8144ea" /><Relationship Type="http://schemas.openxmlformats.org/officeDocument/2006/relationships/slide" Target="/ppt/slides/slide7.xml" Id="R7ebb35f32b334bcd" /><Relationship Type="http://schemas.openxmlformats.org/officeDocument/2006/relationships/slide" Target="/ppt/slides/slide8.xml" Id="Rb70077600733497e" /><Relationship Type="http://schemas.openxmlformats.org/officeDocument/2006/relationships/slide" Target="/ppt/slides/slide9.xml" Id="R347fb712159f4251" /><Relationship Type="http://schemas.openxmlformats.org/officeDocument/2006/relationships/slide" Target="/ppt/slides/slide10.xml" Id="R91b6ec83409a4f1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6f0cbc89f97447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813ee75fb2144de" /><Relationship Type="http://schemas.openxmlformats.org/officeDocument/2006/relationships/notesMaster" Target="/ppt/notesMasters/notesMaster1.xml" Id="Rbe78ae731d22484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350bd6057db470f" /><Relationship Type="http://schemas.openxmlformats.org/officeDocument/2006/relationships/notesMaster" Target="/ppt/notesMasters/notesMaster1.xml" Id="R1bf3a9d7820f4d2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ce5095dc2314d38" /><Relationship Type="http://schemas.openxmlformats.org/officeDocument/2006/relationships/notesMaster" Target="/ppt/notesMasters/notesMaster1.xml" Id="R04da7d8ac00a4da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60753cfcb054b3e" /><Relationship Type="http://schemas.openxmlformats.org/officeDocument/2006/relationships/notesMaster" Target="/ppt/notesMasters/notesMaster1.xml" Id="R28a690d0bb3c42d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80e48897fb74f8c" /><Relationship Type="http://schemas.openxmlformats.org/officeDocument/2006/relationships/notesMaster" Target="/ppt/notesMasters/notesMaster1.xml" Id="R1172b7128a714b2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887a78ba1cf48c6" /><Relationship Type="http://schemas.openxmlformats.org/officeDocument/2006/relationships/notesMaster" Target="/ppt/notesMasters/notesMaster1.xml" Id="R06c941b38af2401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d0b364028a247e0" /><Relationship Type="http://schemas.openxmlformats.org/officeDocument/2006/relationships/notesMaster" Target="/ppt/notesMasters/notesMaster1.xml" Id="Re125a1ca5d6746f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a09bdb0d08049d4" /><Relationship Type="http://schemas.openxmlformats.org/officeDocument/2006/relationships/notesMaster" Target="/ppt/notesMasters/notesMaster1.xml" Id="R7cbe2eda22da468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79ea98deeb2422f" /><Relationship Type="http://schemas.openxmlformats.org/officeDocument/2006/relationships/notesMaster" Target="/ppt/notesMasters/notesMaster1.xml" Id="Rdc19e14c64cf4c2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ec50136a9d34250" /><Relationship Type="http://schemas.openxmlformats.org/officeDocument/2006/relationships/notesMaster" Target="/ppt/notesMasters/notesMaster1.xml" Id="R960413850a1949e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8ec87fc84e747c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b7b41b2b8324f31" /><Relationship Type="http://schemas.openxmlformats.org/officeDocument/2006/relationships/slideLayout" Target="/ppt/slideLayouts/slideLayout1.xml" Id="Rd2eb49598a5b49d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2eb49598a5b49d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6d567b13c84d14" /><Relationship Type="http://schemas.openxmlformats.org/officeDocument/2006/relationships/notesSlide" Target="/ppt/notesSlides/notesSlide1.xml" Id="R83a7bc8c795f44a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d43d5596e14e6e" /><Relationship Type="http://schemas.openxmlformats.org/officeDocument/2006/relationships/notesSlide" Target="/ppt/notesSlides/notesSlide2.xml" Id="R73cec5539515490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14f3f4f25042a8" /><Relationship Type="http://schemas.openxmlformats.org/officeDocument/2006/relationships/notesSlide" Target="/ppt/notesSlides/notesSlide3.xml" Id="R63ee65870ec54cc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7754ef8d5d4b35" /><Relationship Type="http://schemas.openxmlformats.org/officeDocument/2006/relationships/notesSlide" Target="/ppt/notesSlides/notesSlide4.xml" Id="Rf91d342306cc489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5f00af58194ee4" /><Relationship Type="http://schemas.openxmlformats.org/officeDocument/2006/relationships/notesSlide" Target="/ppt/notesSlides/notesSlide5.xml" Id="R8ac78c2d535147a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6b6b2873bd4bae" /><Relationship Type="http://schemas.openxmlformats.org/officeDocument/2006/relationships/notesSlide" Target="/ppt/notesSlides/notesSlide6.xml" Id="R59366c3083eb454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f7512c53f64431" /><Relationship Type="http://schemas.openxmlformats.org/officeDocument/2006/relationships/notesSlide" Target="/ppt/notesSlides/notesSlide7.xml" Id="Rd1bf36f9df614d5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059817e6514852" /><Relationship Type="http://schemas.openxmlformats.org/officeDocument/2006/relationships/notesSlide" Target="/ppt/notesSlides/notesSlide8.xml" Id="R0e58de53b4834b0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c5f6999cc1418b" /><Relationship Type="http://schemas.openxmlformats.org/officeDocument/2006/relationships/notesSlide" Target="/ppt/notesSlides/notesSlide9.xml" Id="Rc763f95688e54e8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a27194776b42c9" /><Relationship Type="http://schemas.openxmlformats.org/officeDocument/2006/relationships/notesSlide" Target="/ppt/notesSlides/notesSlide10.xml" Id="Re4b04602d3e84ae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0386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E97E0D-A7FD-400B-B777-3495FA18A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7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4CF3DA-7BA8-4A1A-9919-20A8F90EA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1239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87722"/>
                </a:solidFill>
              </a:defRPr>
            </a:pPr>
            <a:r>
              <a:rPr sz="1500" b="1">
                <a:solidFill>
                  <a:srgbClr val="E87722"/>
                </a:solidFill>
              </a:rPr>
              <a:t>WORKSHOP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7CA0F1-C0D0-4DBC-9FF3-65A74CBF9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62125"/>
            <a:ext cx="10287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FFFFF"/>
                </a:solidFill>
              </a:defRPr>
            </a:pPr>
            <a:r>
              <a:rPr sz="3750" b="1">
                <a:solidFill>
                  <a:srgbClr val="FFFFFF"/>
                </a:solidFill>
              </a:rPr>
              <a:t>GIS Foundations: Spatial Thinking, Data &amp; Maps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5FE4B0-2DA2-4B3E-96A8-53A4D7A83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971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FFFFF"/>
                </a:solidFill>
              </a:defRPr>
            </a:pPr>
            <a:r>
              <a:rPr sz="1800" b="0">
                <a:solidFill>
                  <a:srgbClr val="FFFFFF"/>
                </a:solidFill>
              </a:rPr>
              <a:t>Software-agnostic concept review • applied decision practice • targeted remediation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490BBF-E1D9-42EE-A576-7D25CD9F8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Bucknell GISP-E / PreGISP Preparation Program</a:t>
            </a:r>
          </a:p>
        </p:txBody>
      </p:sp>
    </p:spTree>
    <p:extLst>
      <p:ext uri="{BB962C8B-B14F-4D97-AF65-F5344CB8AC3E}">
        <p14:creationId xmlns:p14="http://schemas.microsoft.com/office/powerpoint/2010/main" val="24494178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03A57C-D565-4B67-ABDC-97BCCC645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7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A5DA37-7A38-40A3-9659-0D981ACD8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03865"/>
                </a:solidFill>
              </a:defRPr>
            </a:pPr>
            <a:r>
              <a:rPr sz="2700" b="1">
                <a:solidFill>
                  <a:srgbClr val="003865"/>
                </a:solidFill>
              </a:rPr>
              <a:t>What you should be able to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46E577-C36D-490E-A8CF-4E6F9DD9A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7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82F2E3-C375-4DFE-8F3C-B0B83AB40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05A70"/>
                </a:solidFill>
              </a:defRPr>
            </a:pPr>
            <a:r>
              <a:rPr sz="900" b="0">
                <a:solidFill>
                  <a:srgbClr val="405A70"/>
                </a:solidFill>
              </a:rPr>
              <a:t>Bucknell GISP-E / PreGISP Preparation Program  •  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F8D3F5-8E7F-46B2-8784-2DF623408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428750"/>
            <a:ext cx="10382250" cy="47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3247"/>
                </a:solidFill>
              </a:defRPr>
            </a:pPr>
            <a:r>
              <a:rPr sz="1650" b="0">
                <a:solidFill>
                  <a:srgbClr val="183247"/>
                </a:solidFill>
              </a:rPr>
              <a:t>• Explain foundational GIScience ideas about space, place, time, scale, geographic phenomena, and spatial relationships.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83247"/>
                </a:solidFill>
              </a:defRPr>
            </a:pPr>
            <a:r>
              <a:rPr sz="1650" b="0">
                <a:solidFill>
                  <a:srgbClr val="183247"/>
                </a:solidFill>
              </a:rPr>
              <a:t>• Distinguish major geospatial data representations and identify basic fitness-for-use concerns.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83247"/>
                </a:solidFill>
              </a:defRPr>
            </a:pPr>
            <a:r>
              <a:rPr sz="1650" b="0">
                <a:solidFill>
                  <a:srgbClr val="183247"/>
                </a:solidFill>
              </a:rPr>
              <a:t>• Make defensible introductory cartographic choices and interpret common map representations.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83247"/>
                </a:solidFill>
              </a:defRPr>
            </a:pPr>
            <a:r>
              <a:rPr sz="1650" b="0">
                <a:solidFill>
                  <a:srgbClr val="183247"/>
                </a:solidFill>
              </a:rPr>
              <a:t>• Connect basic GIS operations to the geographic question being asked rather than to software commands.</a:t>
            </a:r>
          </a:p>
        </p:txBody>
      </p:sp>
    </p:spTree>
    <p:extLst>
      <p:ext uri="{BB962C8B-B14F-4D97-AF65-F5344CB8AC3E}">
        <p14:creationId xmlns:p14="http://schemas.microsoft.com/office/powerpoint/2010/main" val="177929953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573847-9020-4399-A023-8576BC509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7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EB114F-A1DC-4F24-8F56-10788A464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03865"/>
                </a:solidFill>
              </a:defRPr>
            </a:pPr>
            <a:r>
              <a:rPr sz="2700" b="1">
                <a:solidFill>
                  <a:srgbClr val="003865"/>
                </a:solidFill>
              </a:rPr>
              <a:t>The workshop moves from retrieval to transfer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C6E27F-1C5C-4CED-9383-F885A372D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7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04562F-166A-4631-B369-CE6C35CA0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05A70"/>
                </a:solidFill>
              </a:defRPr>
            </a:pPr>
            <a:r>
              <a:rPr sz="900" b="0">
                <a:solidFill>
                  <a:srgbClr val="405A70"/>
                </a:solidFill>
              </a:rPr>
              <a:t>Bucknell GISP-E / PreGISP Preparation Program  •  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30BCE4-F309-4596-ABC1-5C7A900BC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333500"/>
            <a:ext cx="10382250" cy="47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3247"/>
                </a:solidFill>
              </a:defRPr>
            </a:pPr>
            <a:r>
              <a:rPr sz="1350" b="0">
                <a:solidFill>
                  <a:srgbClr val="183247"/>
                </a:solidFill>
              </a:rPr>
              <a:t>• 0–10  Retrieval diagnostic — Five short scenario questions sampled from the assigned competencies; students answer individually before discussion.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183247"/>
                </a:solidFill>
              </a:defRPr>
            </a:pPr>
            <a:r>
              <a:rPr sz="1350" b="0">
                <a:solidFill>
                  <a:srgbClr val="183247"/>
                </a:solidFill>
              </a:rPr>
              <a:t>• 10–30  Concept bridge — Instructor connects prior coursework to the workshop's major ideas, explicitly naming common misconceptions.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183247"/>
                </a:solidFill>
              </a:defRPr>
            </a:pPr>
            <a:r>
              <a:rPr sz="1350" b="0">
                <a:solidFill>
                  <a:srgbClr val="183247"/>
                </a:solidFill>
              </a:rPr>
              <a:t>• 30–75  Hands-on decision labs — Students work through two or three labs emphasizing method/data/design choices rather than software clicks.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183247"/>
                </a:solidFill>
              </a:defRPr>
            </a:pPr>
            <a:r>
              <a:rPr sz="1350" b="0">
                <a:solidFill>
                  <a:srgbClr val="183247"/>
                </a:solidFill>
              </a:rPr>
              <a:t>• 75–95  Exam-style transfer — Students answer new scenarios individually, then defend answers in pairs.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183247"/>
                </a:solidFill>
              </a:defRPr>
            </a:pPr>
            <a:r>
              <a:rPr sz="1350" b="0">
                <a:solidFill>
                  <a:srgbClr val="183247"/>
                </a:solidFill>
              </a:rPr>
              <a:t>• 95–112  Synthesis challenge — One integrated problem requiring students to connect multiple competencies.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183247"/>
                </a:solidFill>
              </a:defRPr>
            </a:pPr>
            <a:r>
              <a:rPr sz="1350" b="0">
                <a:solidFill>
                  <a:srgbClr val="183247"/>
                </a:solidFill>
              </a:rPr>
              <a:t>• 112–120  Exit ticket — Students identify one mastered idea, one remaining gap, and the specific UCGIS/assessment item they will use next.</a:t>
            </a:r>
          </a:p>
        </p:txBody>
      </p:sp>
    </p:spTree>
    <p:extLst>
      <p:ext uri="{BB962C8B-B14F-4D97-AF65-F5344CB8AC3E}">
        <p14:creationId xmlns:p14="http://schemas.microsoft.com/office/powerpoint/2010/main" val="199526557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0481E4-4CD1-41D1-B681-96AF12A1E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7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5B3253-0E99-479D-908D-1525BB7D7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03865"/>
                </a:solidFill>
              </a:defRPr>
            </a:pPr>
            <a:r>
              <a:rPr sz="2700" b="1">
                <a:solidFill>
                  <a:srgbClr val="003865"/>
                </a:solidFill>
              </a:rPr>
              <a:t>Spatial representation sort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3F880F-25A5-435E-9DCA-C156366CD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7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D9A47D-F0BC-4FA6-A133-BB716CCD9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05A70"/>
                </a:solidFill>
              </a:defRPr>
            </a:pPr>
            <a:r>
              <a:rPr sz="900" b="0">
                <a:solidFill>
                  <a:srgbClr val="405A70"/>
                </a:solidFill>
              </a:rPr>
              <a:t>Bucknell GISP-E / PreGISP Preparation Program  •  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029C70-C454-49E4-915E-36EC1C8E4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381125"/>
            <a:ext cx="105727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3247"/>
                </a:solidFill>
              </a:defRPr>
            </a:pPr>
            <a:r>
              <a:rPr sz="1875" b="1">
                <a:solidFill>
                  <a:srgbClr val="183247"/>
                </a:solidFill>
              </a:rPr>
              <a:t>Classify a bus stop, daily temperature, a stream network, a wildfire perimeter and a commuting trip as objects, fields, networks, events, places or trajectories. Defend ambiguous choices.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BCEFC2-754D-4E87-9561-1497E7A44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3865"/>
                </a:solidFill>
              </a:defRPr>
            </a:pPr>
            <a:r>
              <a:rPr sz="1800" b="1">
                <a:solidFill>
                  <a:srgbClr val="003865"/>
                </a:solidFill>
              </a:rPr>
              <a:t>Make a defensible choice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2C14FF-D50B-469A-915C-904527DBB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4953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3247"/>
                </a:solidFill>
              </a:defRPr>
            </a:pPr>
            <a:r>
              <a:rPr sz="1500" b="0">
                <a:solidFill>
                  <a:srgbClr val="183247"/>
                </a:solidFill>
              </a:rPr>
              <a:t>• Name the geographic question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83247"/>
                </a:solidFill>
              </a:defRPr>
            </a:pPr>
            <a:r>
              <a:rPr sz="1500" b="0">
                <a:solidFill>
                  <a:srgbClr val="183247"/>
                </a:solidFill>
              </a:rPr>
              <a:t>• Select the data, representation or method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83247"/>
                </a:solidFill>
              </a:defRPr>
            </a:pPr>
            <a:r>
              <a:rPr sz="1500" b="0">
                <a:solidFill>
                  <a:srgbClr val="183247"/>
                </a:solidFill>
              </a:rPr>
              <a:t>• State the assumptions behind the choice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DFE423-3099-48FB-B66C-96C73CFC1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190875"/>
            <a:ext cx="28575" cy="3381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A8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D99CEB-5441-4CF2-84CC-3406579D2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1432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3865"/>
                </a:solidFill>
              </a:defRPr>
            </a:pPr>
            <a:r>
              <a:rPr sz="1800" b="1">
                <a:solidFill>
                  <a:srgbClr val="003865"/>
                </a:solidFill>
              </a:rPr>
              <a:t>Test the choice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F02B1C-13F2-474F-AE33-42057D0A3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714750"/>
            <a:ext cx="4953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3247"/>
                </a:solidFill>
              </a:defRPr>
            </a:pPr>
            <a:r>
              <a:rPr sz="1500" b="0">
                <a:solidFill>
                  <a:srgbClr val="183247"/>
                </a:solidFill>
              </a:rPr>
              <a:t>• Identify the most likely failure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83247"/>
                </a:solidFill>
              </a:defRPr>
            </a:pPr>
            <a:r>
              <a:rPr sz="1500" b="0">
                <a:solidFill>
                  <a:srgbClr val="183247"/>
                </a:solidFill>
              </a:rPr>
              <a:t>• Describe a meaningful validation check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83247"/>
                </a:solidFill>
              </a:defRPr>
            </a:pPr>
            <a:r>
              <a:rPr sz="1500" b="0">
                <a:solidFill>
                  <a:srgbClr val="183247"/>
                </a:solidFill>
              </a:rPr>
              <a:t>• Explain what evidence would change your conclusion</a:t>
            </a:r>
          </a:p>
        </p:txBody>
      </p:sp>
    </p:spTree>
    <p:extLst>
      <p:ext uri="{BB962C8B-B14F-4D97-AF65-F5344CB8AC3E}">
        <p14:creationId xmlns:p14="http://schemas.microsoft.com/office/powerpoint/2010/main" val="125678020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21154B-C605-4AE2-9F5D-88EAA2698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7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DB8F3D-A4EB-46F2-9FE2-532CC1597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03865"/>
                </a:solidFill>
              </a:defRPr>
            </a:pPr>
            <a:r>
              <a:rPr sz="2700" b="1">
                <a:solidFill>
                  <a:srgbClr val="003865"/>
                </a:solidFill>
              </a:rPr>
              <a:t>CRS decision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0728FD-73AB-4EB0-B9DC-20C1EC39E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7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DD8A08-022B-49FA-BF48-834EEDB7C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05A70"/>
                </a:solidFill>
              </a:defRPr>
            </a:pPr>
            <a:r>
              <a:rPr sz="900" b="0">
                <a:solidFill>
                  <a:srgbClr val="405A70"/>
                </a:solidFill>
              </a:rPr>
              <a:t>Bucknell GISP-E / PreGISP Preparation Program  •  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18930B-D806-4A56-81CD-85E5E2A1A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381125"/>
            <a:ext cx="105727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3247"/>
                </a:solidFill>
              </a:defRPr>
            </a:pPr>
            <a:r>
              <a:rPr sz="1875" b="1">
                <a:solidFill>
                  <a:srgbClr val="183247"/>
                </a:solidFill>
              </a:rPr>
              <a:t>Choose a coordinate system for measuring campus building areas, mapping a continental flow pattern and publishing a global reference map. Explain the distortion tradeoff.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5DBFFC-80AC-432A-A91A-8B3C4C466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3865"/>
                </a:solidFill>
              </a:defRPr>
            </a:pPr>
            <a:r>
              <a:rPr sz="1800" b="1">
                <a:solidFill>
                  <a:srgbClr val="003865"/>
                </a:solidFill>
              </a:rPr>
              <a:t>Make a defensible choice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E87699-26C2-4AE0-911E-6B3812834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4953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3247"/>
                </a:solidFill>
              </a:defRPr>
            </a:pPr>
            <a:r>
              <a:rPr sz="1500" b="0">
                <a:solidFill>
                  <a:srgbClr val="183247"/>
                </a:solidFill>
              </a:rPr>
              <a:t>• Name the geographic question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83247"/>
                </a:solidFill>
              </a:defRPr>
            </a:pPr>
            <a:r>
              <a:rPr sz="1500" b="0">
                <a:solidFill>
                  <a:srgbClr val="183247"/>
                </a:solidFill>
              </a:rPr>
              <a:t>• Select the data, representation or method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83247"/>
                </a:solidFill>
              </a:defRPr>
            </a:pPr>
            <a:r>
              <a:rPr sz="1500" b="0">
                <a:solidFill>
                  <a:srgbClr val="183247"/>
                </a:solidFill>
              </a:rPr>
              <a:t>• State the assumptions behind the choice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AE11A3-631B-4439-A26B-672D51355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190875"/>
            <a:ext cx="28575" cy="3381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A8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29E63E-2A18-4644-A573-7E61A6789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1432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3865"/>
                </a:solidFill>
              </a:defRPr>
            </a:pPr>
            <a:r>
              <a:rPr sz="1800" b="1">
                <a:solidFill>
                  <a:srgbClr val="003865"/>
                </a:solidFill>
              </a:rPr>
              <a:t>Test the choice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6087BE-2CF2-4C96-9D81-B3FEC6042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714750"/>
            <a:ext cx="4953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3247"/>
                </a:solidFill>
              </a:defRPr>
            </a:pPr>
            <a:r>
              <a:rPr sz="1500" b="0">
                <a:solidFill>
                  <a:srgbClr val="183247"/>
                </a:solidFill>
              </a:rPr>
              <a:t>• Identify the most likely failure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83247"/>
                </a:solidFill>
              </a:defRPr>
            </a:pPr>
            <a:r>
              <a:rPr sz="1500" b="0">
                <a:solidFill>
                  <a:srgbClr val="183247"/>
                </a:solidFill>
              </a:rPr>
              <a:t>• Describe a meaningful validation check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83247"/>
                </a:solidFill>
              </a:defRPr>
            </a:pPr>
            <a:r>
              <a:rPr sz="1500" b="0">
                <a:solidFill>
                  <a:srgbClr val="183247"/>
                </a:solidFill>
              </a:rPr>
              <a:t>• Explain what evidence would change your conclusion</a:t>
            </a:r>
          </a:p>
        </p:txBody>
      </p:sp>
    </p:spTree>
    <p:extLst>
      <p:ext uri="{BB962C8B-B14F-4D97-AF65-F5344CB8AC3E}">
        <p14:creationId xmlns:p14="http://schemas.microsoft.com/office/powerpoint/2010/main" val="158994016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1EADB0-50A9-463F-A478-440CF2B8D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7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1925F6-7AEA-45B8-A946-44B69FA4B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03865"/>
                </a:solidFill>
              </a:defRPr>
            </a:pPr>
            <a:r>
              <a:rPr sz="2700" b="1">
                <a:solidFill>
                  <a:srgbClr val="003865"/>
                </a:solidFill>
              </a:rPr>
              <a:t>Map critique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C71E18-E2EB-44C6-A992-BBD832FFB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7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CDA84C-8A64-423F-9C89-35DF38075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05A70"/>
                </a:solidFill>
              </a:defRPr>
            </a:pPr>
            <a:r>
              <a:rPr sz="900" b="0">
                <a:solidFill>
                  <a:srgbClr val="405A70"/>
                </a:solidFill>
              </a:rPr>
              <a:t>Bucknell GISP-E / PreGISP Preparation Program  •  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CDDABB-6244-41ED-B9CD-2D172ADBA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381125"/>
            <a:ext cx="105727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3247"/>
                </a:solidFill>
              </a:defRPr>
            </a:pPr>
            <a:r>
              <a:rPr sz="1875" b="1">
                <a:solidFill>
                  <a:srgbClr val="183247"/>
                </a:solidFill>
              </a:rPr>
              <a:t>Compare two choropleth classifications of the same rates. Identify how normalization, class breaks and color choices alter the message.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8401BC-E90C-47BB-9E08-0D85D4471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3865"/>
                </a:solidFill>
              </a:defRPr>
            </a:pPr>
            <a:r>
              <a:rPr sz="1800" b="1">
                <a:solidFill>
                  <a:srgbClr val="003865"/>
                </a:solidFill>
              </a:rPr>
              <a:t>Make a defensible choice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94488F-ACB9-489A-9E1C-00963370F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4953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3247"/>
                </a:solidFill>
              </a:defRPr>
            </a:pPr>
            <a:r>
              <a:rPr sz="1500" b="0">
                <a:solidFill>
                  <a:srgbClr val="183247"/>
                </a:solidFill>
              </a:rPr>
              <a:t>• Name the geographic question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83247"/>
                </a:solidFill>
              </a:defRPr>
            </a:pPr>
            <a:r>
              <a:rPr sz="1500" b="0">
                <a:solidFill>
                  <a:srgbClr val="183247"/>
                </a:solidFill>
              </a:rPr>
              <a:t>• Select the data, representation or method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83247"/>
                </a:solidFill>
              </a:defRPr>
            </a:pPr>
            <a:r>
              <a:rPr sz="1500" b="0">
                <a:solidFill>
                  <a:srgbClr val="183247"/>
                </a:solidFill>
              </a:rPr>
              <a:t>• State the assumptions behind the choice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E81D57-BD70-4790-B885-0EA4E10FE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190875"/>
            <a:ext cx="28575" cy="3381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A8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04CF95-CB5A-435A-86C4-EA6376C62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1432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3865"/>
                </a:solidFill>
              </a:defRPr>
            </a:pPr>
            <a:r>
              <a:rPr sz="1800" b="1">
                <a:solidFill>
                  <a:srgbClr val="003865"/>
                </a:solidFill>
              </a:rPr>
              <a:t>Test the choice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6F7A84-BF9E-48C6-98B1-80DE9E1DA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714750"/>
            <a:ext cx="4953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3247"/>
                </a:solidFill>
              </a:defRPr>
            </a:pPr>
            <a:r>
              <a:rPr sz="1500" b="0">
                <a:solidFill>
                  <a:srgbClr val="183247"/>
                </a:solidFill>
              </a:rPr>
              <a:t>• Identify the most likely failure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83247"/>
                </a:solidFill>
              </a:defRPr>
            </a:pPr>
            <a:r>
              <a:rPr sz="1500" b="0">
                <a:solidFill>
                  <a:srgbClr val="183247"/>
                </a:solidFill>
              </a:rPr>
              <a:t>• Describe a meaningful validation check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83247"/>
                </a:solidFill>
              </a:defRPr>
            </a:pPr>
            <a:r>
              <a:rPr sz="1500" b="0">
                <a:solidFill>
                  <a:srgbClr val="183247"/>
                </a:solidFill>
              </a:rPr>
              <a:t>• Explain what evidence would change your conclusion</a:t>
            </a:r>
          </a:p>
        </p:txBody>
      </p:sp>
    </p:spTree>
    <p:extLst>
      <p:ext uri="{BB962C8B-B14F-4D97-AF65-F5344CB8AC3E}">
        <p14:creationId xmlns:p14="http://schemas.microsoft.com/office/powerpoint/2010/main" val="176213733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0ABBCB-7883-44E0-A3EC-3BE92FF89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7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AD1882-1B76-4853-ABA6-427790846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03865"/>
                </a:solidFill>
              </a:defRPr>
            </a:pPr>
            <a:r>
              <a:rPr sz="2700" b="1">
                <a:solidFill>
                  <a:srgbClr val="003865"/>
                </a:solidFill>
              </a:rPr>
              <a:t>Campus workflow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D38588-27C6-43A4-B3F9-71AEAD204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7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0C3D69-6E95-4DD1-B2E6-792E62BBA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05A70"/>
                </a:solidFill>
              </a:defRPr>
            </a:pPr>
            <a:r>
              <a:rPr sz="900" b="0">
                <a:solidFill>
                  <a:srgbClr val="405A70"/>
                </a:solidFill>
              </a:rPr>
              <a:t>Bucknell GISP-E / PreGISP Preparation Program  •  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7CCC02-F8DA-44E5-8474-E925AE5D5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381125"/>
            <a:ext cx="105727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3247"/>
                </a:solidFill>
              </a:defRPr>
            </a:pPr>
            <a:r>
              <a:rPr sz="1875" b="1">
                <a:solidFill>
                  <a:srgbClr val="183247"/>
                </a:solidFill>
              </a:rPr>
              <a:t>Design the data, representation, operation and output needed to identify buildings within a five-minute walk of an accessible entrance.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D766E7-9C26-453B-B5E9-F3C33E61F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3865"/>
                </a:solidFill>
              </a:defRPr>
            </a:pPr>
            <a:r>
              <a:rPr sz="1800" b="1">
                <a:solidFill>
                  <a:srgbClr val="003865"/>
                </a:solidFill>
              </a:rPr>
              <a:t>Make a defensible choice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F8CB9B-35EA-4BBD-A538-B9EEED01E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4953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3247"/>
                </a:solidFill>
              </a:defRPr>
            </a:pPr>
            <a:r>
              <a:rPr sz="1500" b="0">
                <a:solidFill>
                  <a:srgbClr val="183247"/>
                </a:solidFill>
              </a:rPr>
              <a:t>• Name the geographic question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83247"/>
                </a:solidFill>
              </a:defRPr>
            </a:pPr>
            <a:r>
              <a:rPr sz="1500" b="0">
                <a:solidFill>
                  <a:srgbClr val="183247"/>
                </a:solidFill>
              </a:rPr>
              <a:t>• Select the data, representation or method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83247"/>
                </a:solidFill>
              </a:defRPr>
            </a:pPr>
            <a:r>
              <a:rPr sz="1500" b="0">
                <a:solidFill>
                  <a:srgbClr val="183247"/>
                </a:solidFill>
              </a:rPr>
              <a:t>• State the assumptions behind the choice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C58E6C-C685-4483-9C10-F69650F6C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190875"/>
            <a:ext cx="28575" cy="3381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A8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E8A066-F610-4989-916C-B131ECA06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1432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3865"/>
                </a:solidFill>
              </a:defRPr>
            </a:pPr>
            <a:r>
              <a:rPr sz="1800" b="1">
                <a:solidFill>
                  <a:srgbClr val="003865"/>
                </a:solidFill>
              </a:rPr>
              <a:t>Test the choice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40247B-EAC7-4784-894D-846AC21C8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714750"/>
            <a:ext cx="4953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3247"/>
                </a:solidFill>
              </a:defRPr>
            </a:pPr>
            <a:r>
              <a:rPr sz="1500" b="0">
                <a:solidFill>
                  <a:srgbClr val="183247"/>
                </a:solidFill>
              </a:rPr>
              <a:t>• Identify the most likely failure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83247"/>
                </a:solidFill>
              </a:defRPr>
            </a:pPr>
            <a:r>
              <a:rPr sz="1500" b="0">
                <a:solidFill>
                  <a:srgbClr val="183247"/>
                </a:solidFill>
              </a:rPr>
              <a:t>• Describe a meaningful validation check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83247"/>
                </a:solidFill>
              </a:defRPr>
            </a:pPr>
            <a:r>
              <a:rPr sz="1500" b="0">
                <a:solidFill>
                  <a:srgbClr val="183247"/>
                </a:solidFill>
              </a:rPr>
              <a:t>• Explain what evidence would change your conclusion</a:t>
            </a:r>
          </a:p>
        </p:txBody>
      </p:sp>
    </p:spTree>
    <p:extLst>
      <p:ext uri="{BB962C8B-B14F-4D97-AF65-F5344CB8AC3E}">
        <p14:creationId xmlns:p14="http://schemas.microsoft.com/office/powerpoint/2010/main" val="12155401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B706CB-E5A7-4EC5-B3A5-9D983195E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7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E9252B-BC3B-4F52-9ECE-C53734E86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03865"/>
                </a:solidFill>
              </a:defRPr>
            </a:pPr>
            <a:r>
              <a:rPr sz="2700" b="1">
                <a:solidFill>
                  <a:srgbClr val="003865"/>
                </a:solidFill>
              </a:rPr>
              <a:t>Misconceptions worth challenging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E04771-B06A-4947-9539-8A3A3D15E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7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305561-354C-4758-AC45-D1C353234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05A70"/>
                </a:solidFill>
              </a:defRPr>
            </a:pPr>
            <a:r>
              <a:rPr sz="900" b="0">
                <a:solidFill>
                  <a:srgbClr val="405A70"/>
                </a:solidFill>
              </a:rPr>
              <a:t>Bucknell GISP-E / PreGISP Preparation Program  •  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0FAB58-2B7B-402D-8195-C76137E5E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428750"/>
            <a:ext cx="10382250" cy="47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3247"/>
                </a:solidFill>
              </a:defRPr>
            </a:pPr>
            <a:r>
              <a:rPr sz="1650" b="0">
                <a:solidFill>
                  <a:srgbClr val="183247"/>
                </a:solidFill>
              </a:rPr>
              <a:t>• GIS output is automatically geographically meaningful.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83247"/>
                </a:solidFill>
              </a:defRPr>
            </a:pPr>
            <a:r>
              <a:rPr sz="1650" b="0">
                <a:solidFill>
                  <a:srgbClr val="183247"/>
                </a:solidFill>
              </a:rPr>
              <a:t>• A coordinate system is merely display metadata.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83247"/>
                </a:solidFill>
              </a:defRPr>
            </a:pPr>
            <a:r>
              <a:rPr sz="1650" b="0">
                <a:solidFill>
                  <a:srgbClr val="183247"/>
                </a:solidFill>
              </a:rPr>
              <a:t>• Raster is always less accurate than vector.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83247"/>
                </a:solidFill>
              </a:defRPr>
            </a:pPr>
            <a:r>
              <a:rPr sz="1650" b="0">
                <a:solidFill>
                  <a:srgbClr val="183247"/>
                </a:solidFill>
              </a:rPr>
              <a:t>• A map that looks good is necessarily a good analytical communication product.</a:t>
            </a:r>
          </a:p>
        </p:txBody>
      </p:sp>
    </p:spTree>
    <p:extLst>
      <p:ext uri="{BB962C8B-B14F-4D97-AF65-F5344CB8AC3E}">
        <p14:creationId xmlns:p14="http://schemas.microsoft.com/office/powerpoint/2010/main" val="138577394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492BBB-D693-4041-9D08-02DA4527C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7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19C2DF-2356-448D-BD85-3A06ADC1D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03865"/>
                </a:solidFill>
              </a:defRPr>
            </a:pPr>
            <a:r>
              <a:rPr sz="2700" b="1">
                <a:solidFill>
                  <a:srgbClr val="003865"/>
                </a:solidFill>
              </a:rPr>
              <a:t>Independent mastery requires more than recognition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0B163D-067B-442F-81DA-B76516844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7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B91D1C-C249-4430-8812-0015F1D99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05A70"/>
                </a:solidFill>
              </a:defRPr>
            </a:pPr>
            <a:r>
              <a:rPr sz="900" b="0">
                <a:solidFill>
                  <a:srgbClr val="405A70"/>
                </a:solidFill>
              </a:rPr>
              <a:t>Bucknell GISP-E / PreGISP Preparation Program  •  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AD9EBF-350E-4C0C-9F55-1D090EA8F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3865"/>
                </a:solidFill>
              </a:defRPr>
            </a:pPr>
            <a:r>
              <a:rPr sz="1800" b="1">
                <a:solidFill>
                  <a:srgbClr val="003865"/>
                </a:solidFill>
              </a:rPr>
              <a:t>Evidence of mastery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A37411-AD79-42B8-8738-7C0FEBDB7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4953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3247"/>
                </a:solidFill>
              </a:defRPr>
            </a:pPr>
            <a:r>
              <a:rPr sz="1500" b="0">
                <a:solidFill>
                  <a:srgbClr val="183247"/>
                </a:solidFill>
              </a:rPr>
              <a:t>• Explain the concept in plain language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83247"/>
                </a:solidFill>
              </a:defRPr>
            </a:pPr>
            <a:r>
              <a:rPr sz="1500" b="0">
                <a:solidFill>
                  <a:srgbClr val="183247"/>
                </a:solidFill>
              </a:rPr>
              <a:t>• Select and justify it in a new scenario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83247"/>
                </a:solidFill>
              </a:defRPr>
            </a:pPr>
            <a:r>
              <a:rPr sz="1500" b="0">
                <a:solidFill>
                  <a:srgbClr val="183247"/>
                </a:solidFill>
              </a:rPr>
              <a:t>• Interpret output in geographic context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BC4C3B-ED93-4CE7-8757-E91AB2999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428750"/>
            <a:ext cx="28575" cy="3381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A8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9EBA03-0617-4297-AD93-F3BAE0A6C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381125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3865"/>
                </a:solidFill>
              </a:defRPr>
            </a:pPr>
            <a:r>
              <a:rPr sz="1800" b="1">
                <a:solidFill>
                  <a:srgbClr val="003865"/>
                </a:solidFill>
              </a:rPr>
              <a:t>Quality check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EC9824-B464-4136-9ED2-3AE2675A7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52625"/>
            <a:ext cx="4953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3247"/>
                </a:solidFill>
              </a:defRPr>
            </a:pPr>
            <a:r>
              <a:rPr sz="1500" b="0">
                <a:solidFill>
                  <a:srgbClr val="183247"/>
                </a:solidFill>
              </a:rPr>
              <a:t>• Identify an inappropriate use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83247"/>
                </a:solidFill>
              </a:defRPr>
            </a:pPr>
            <a:r>
              <a:rPr sz="1500" b="0">
                <a:solidFill>
                  <a:srgbClr val="183247"/>
                </a:solidFill>
              </a:rPr>
              <a:t>• Name a limitation or assumption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83247"/>
                </a:solidFill>
              </a:defRPr>
            </a:pPr>
            <a:r>
              <a:rPr sz="1500" b="0">
                <a:solidFill>
                  <a:srgbClr val="183247"/>
                </a:solidFill>
              </a:rPr>
              <a:t>• Design a validation strategy</a:t>
            </a:r>
          </a:p>
        </p:txBody>
      </p:sp>
    </p:spTree>
    <p:extLst>
      <p:ext uri="{BB962C8B-B14F-4D97-AF65-F5344CB8AC3E}">
        <p14:creationId xmlns:p14="http://schemas.microsoft.com/office/powerpoint/2010/main" val="157772930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943012-AE08-4F29-9475-7B14DBA60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7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180564-E43E-4FC3-B353-67310A196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03865"/>
                </a:solidFill>
              </a:defRPr>
            </a:pPr>
            <a:r>
              <a:rPr sz="2700" b="1">
                <a:solidFill>
                  <a:srgbClr val="003865"/>
                </a:solidFill>
              </a:rPr>
              <a:t>Turn remaining gaps into a short action plan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2C17C8-6B4D-41F5-A8E1-AB40B3BE8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7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EA9E58-977C-4B5D-91B9-72C2A4A4A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05A70"/>
                </a:solidFill>
              </a:defRPr>
            </a:pPr>
            <a:r>
              <a:rPr sz="900" b="0">
                <a:solidFill>
                  <a:srgbClr val="405A70"/>
                </a:solidFill>
              </a:rPr>
              <a:t>Bucknell GISP-E / PreGISP Preparation Program  •  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3C787A-D4E7-4049-B136-42F47CDD8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381125"/>
            <a:ext cx="10382250" cy="47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3247"/>
                </a:solidFill>
              </a:defRPr>
            </a:pPr>
            <a:r>
              <a:rPr sz="1650" b="0">
                <a:solidFill>
                  <a:srgbClr val="183247"/>
                </a:solidFill>
              </a:rPr>
              <a:t>• Re-rate each assigned competency from 0–3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83247"/>
                </a:solidFill>
              </a:defRPr>
            </a:pPr>
            <a:r>
              <a:rPr sz="1650" b="0">
                <a:solidFill>
                  <a:srgbClr val="183247"/>
                </a:solidFill>
              </a:rPr>
              <a:t>• Review missed-item explanations and linked Book of Knowledge topics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83247"/>
                </a:solidFill>
              </a:defRPr>
            </a:pPr>
            <a:r>
              <a:rPr sz="1650" b="0">
                <a:solidFill>
                  <a:srgbClr val="183247"/>
                </a:solidFill>
              </a:rPr>
              <a:t>• Complete the matching workshop practice and ESRI training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83247"/>
                </a:solidFill>
              </a:defRPr>
            </a:pPr>
            <a:r>
              <a:rPr sz="1650" b="0">
                <a:solidFill>
                  <a:srgbClr val="183247"/>
                </a:solidFill>
              </a:rPr>
              <a:t>• Retest with mixed questions 48–72 hours later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83247"/>
                </a:solidFill>
              </a:defRPr>
            </a:pPr>
            <a:r>
              <a:rPr sz="1650" b="0">
                <a:solidFill>
                  <a:srgbClr val="183247"/>
                </a:solidFill>
              </a:rPr>
              <a:t>• Record evidence of improvement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B735DC-DC8E-45EF-8D41-C7CD70BA4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0075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05A70"/>
                </a:solidFill>
              </a:defRPr>
            </a:pPr>
            <a:r>
              <a:rPr sz="900" b="0">
                <a:solidFill>
                  <a:srgbClr val="405A70"/>
                </a:solidFill>
              </a:rPr>
              <a:t>Source: GISP-E Chronological Six-Workshop Program, Bucknell University, Fall 2026</a:t>
            </a:r>
          </a:p>
        </p:txBody>
      </p:sp>
    </p:spTree>
    <p:extLst>
      <p:ext uri="{BB962C8B-B14F-4D97-AF65-F5344CB8AC3E}">
        <p14:creationId xmlns:p14="http://schemas.microsoft.com/office/powerpoint/2010/main" val="156525353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2026-08-27T13:29:56.1870000Z</dcterms:created>
  <dcterms:modified xsi:type="dcterms:W3CDTF">2026-08-27T13:29:56.1870000Z</dcterms:modified>
</coreProperties>
</file>