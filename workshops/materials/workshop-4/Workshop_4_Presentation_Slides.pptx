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6c9e3faf3448e" /><Relationship Type="http://schemas.openxmlformats.org/officeDocument/2006/relationships/extended-properties" Target="/docProps/app.xml" Id="Ra48709fa344a43ec" /><Relationship Type="http://schemas.openxmlformats.org/officeDocument/2006/relationships/officeDocument" Target="/ppt/presentation.xml" Id="R5d8943625fb74c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df159f41044bb6"/>
  </p:sldMasterIdLst>
  <p:notesMasterIdLst>
    <p:notesMasterId xmlns:r="http://schemas.openxmlformats.org/officeDocument/2006/relationships" r:id="R13a3593ccb27486a"/>
  </p:notesMasterIdLst>
  <p:sldIdLst>
    <p:sldId xmlns:r="http://schemas.openxmlformats.org/officeDocument/2006/relationships" id="256" r:id="R102128ef7f0545cb"/>
    <p:sldId xmlns:r="http://schemas.openxmlformats.org/officeDocument/2006/relationships" id="257" r:id="Rae1cb00ce94f41c2"/>
    <p:sldId xmlns:r="http://schemas.openxmlformats.org/officeDocument/2006/relationships" id="258" r:id="R01c4763c49054907"/>
    <p:sldId xmlns:r="http://schemas.openxmlformats.org/officeDocument/2006/relationships" id="259" r:id="R99e45b02707145b4"/>
    <p:sldId xmlns:r="http://schemas.openxmlformats.org/officeDocument/2006/relationships" id="260" r:id="R3a4b280f79184b0c"/>
    <p:sldId xmlns:r="http://schemas.openxmlformats.org/officeDocument/2006/relationships" id="261" r:id="Rd8a0fc39be264b97"/>
    <p:sldId xmlns:r="http://schemas.openxmlformats.org/officeDocument/2006/relationships" id="262" r:id="R7265cc8970f9419a"/>
    <p:sldId xmlns:r="http://schemas.openxmlformats.org/officeDocument/2006/relationships" id="263" r:id="R89574d6d46a744f7"/>
    <p:sldId xmlns:r="http://schemas.openxmlformats.org/officeDocument/2006/relationships" id="264" r:id="R806d5fab33814edd"/>
    <p:sldId xmlns:r="http://schemas.openxmlformats.org/officeDocument/2006/relationships" id="265" r:id="R002ee1a3bd1d4a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959a32497f4c29" /><Relationship Type="http://schemas.openxmlformats.org/officeDocument/2006/relationships/slideMaster" Target="/ppt/slideMasters/slideMaster1.xml" Id="R1bdf159f41044bb6" /><Relationship Type="http://schemas.openxmlformats.org/officeDocument/2006/relationships/notesMaster" Target="/ppt/notesMasters/notesMaster1.xml" Id="R13a3593ccb27486a" /><Relationship Type="http://schemas.openxmlformats.org/officeDocument/2006/relationships/presProps" Target="/ppt/presProps.xml" Id="Rc94da72c49c341d8" /><Relationship Type="http://schemas.openxmlformats.org/officeDocument/2006/relationships/tableStyles" Target="/ppt/tableStyles.xml" Id="R696d050648e34447" /><Relationship Type="http://schemas.openxmlformats.org/officeDocument/2006/relationships/slide" Target="/ppt/slides/slide1.xml" Id="R102128ef7f0545cb" /><Relationship Type="http://schemas.openxmlformats.org/officeDocument/2006/relationships/slide" Target="/ppt/slides/slide2.xml" Id="Rae1cb00ce94f41c2" /><Relationship Type="http://schemas.openxmlformats.org/officeDocument/2006/relationships/slide" Target="/ppt/slides/slide3.xml" Id="R01c4763c49054907" /><Relationship Type="http://schemas.openxmlformats.org/officeDocument/2006/relationships/slide" Target="/ppt/slides/slide4.xml" Id="R99e45b02707145b4" /><Relationship Type="http://schemas.openxmlformats.org/officeDocument/2006/relationships/slide" Target="/ppt/slides/slide5.xml" Id="R3a4b280f79184b0c" /><Relationship Type="http://schemas.openxmlformats.org/officeDocument/2006/relationships/slide" Target="/ppt/slides/slide6.xml" Id="Rd8a0fc39be264b97" /><Relationship Type="http://schemas.openxmlformats.org/officeDocument/2006/relationships/slide" Target="/ppt/slides/slide7.xml" Id="R7265cc8970f9419a" /><Relationship Type="http://schemas.openxmlformats.org/officeDocument/2006/relationships/slide" Target="/ppt/slides/slide8.xml" Id="R89574d6d46a744f7" /><Relationship Type="http://schemas.openxmlformats.org/officeDocument/2006/relationships/slide" Target="/ppt/slides/slide9.xml" Id="R806d5fab33814edd" /><Relationship Type="http://schemas.openxmlformats.org/officeDocument/2006/relationships/slide" Target="/ppt/slides/slide10.xml" Id="R002ee1a3bd1d4a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6c471438e644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f51b3989ba4047" /><Relationship Type="http://schemas.openxmlformats.org/officeDocument/2006/relationships/notesMaster" Target="/ppt/notesMasters/notesMaster1.xml" Id="R38aa65d630df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117ee8eb343b7" /><Relationship Type="http://schemas.openxmlformats.org/officeDocument/2006/relationships/notesMaster" Target="/ppt/notesMasters/notesMaster1.xml" Id="Rb233441ad54344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90a4305e74ad3" /><Relationship Type="http://schemas.openxmlformats.org/officeDocument/2006/relationships/notesMaster" Target="/ppt/notesMasters/notesMaster1.xml" Id="Rb1f0bedd330449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d5c22914a64e6c" /><Relationship Type="http://schemas.openxmlformats.org/officeDocument/2006/relationships/notesMaster" Target="/ppt/notesMasters/notesMaster1.xml" Id="R8ee4fc678fb14b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26f6b94f0443e8" /><Relationship Type="http://schemas.openxmlformats.org/officeDocument/2006/relationships/notesMaster" Target="/ppt/notesMasters/notesMaster1.xml" Id="R7be12a9c487a48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d6bdcdcba14e5b" /><Relationship Type="http://schemas.openxmlformats.org/officeDocument/2006/relationships/notesMaster" Target="/ppt/notesMasters/notesMaster1.xml" Id="R69485b966ae84c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e52a48e3fd4338" /><Relationship Type="http://schemas.openxmlformats.org/officeDocument/2006/relationships/notesMaster" Target="/ppt/notesMasters/notesMaster1.xml" Id="R5468caaca5214a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f46ed0ade348ba" /><Relationship Type="http://schemas.openxmlformats.org/officeDocument/2006/relationships/notesMaster" Target="/ppt/notesMasters/notesMaster1.xml" Id="R1191300d722741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ac16557e6b4f2c" /><Relationship Type="http://schemas.openxmlformats.org/officeDocument/2006/relationships/notesMaster" Target="/ppt/notesMasters/notesMaster1.xml" Id="R7a43bd4bcb2d4e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4cdf8a98504c6d" /><Relationship Type="http://schemas.openxmlformats.org/officeDocument/2006/relationships/notesMaster" Target="/ppt/notesMasters/notesMaster1.xml" Id="Rd4a4d3c51218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7e09cadee42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9e8b32669445ca" /><Relationship Type="http://schemas.openxmlformats.org/officeDocument/2006/relationships/slideLayout" Target="/ppt/slideLayouts/slideLayout1.xml" Id="R0c8291f1562444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8291f1562444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49ea878334bfd" /><Relationship Type="http://schemas.openxmlformats.org/officeDocument/2006/relationships/notesSlide" Target="/ppt/notesSlides/notesSlide1.xml" Id="Ra9be947d3a4a4a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96bbb863d44d5" /><Relationship Type="http://schemas.openxmlformats.org/officeDocument/2006/relationships/notesSlide" Target="/ppt/notesSlides/notesSlide2.xml" Id="R673cf480181d4d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3d89bf85bf4899" /><Relationship Type="http://schemas.openxmlformats.org/officeDocument/2006/relationships/notesSlide" Target="/ppt/notesSlides/notesSlide3.xml" Id="R205ed664ba904a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f3291721b4717" /><Relationship Type="http://schemas.openxmlformats.org/officeDocument/2006/relationships/notesSlide" Target="/ppt/notesSlides/notesSlide4.xml" Id="R01aad199d4c341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b56c49a794bcc" /><Relationship Type="http://schemas.openxmlformats.org/officeDocument/2006/relationships/notesSlide" Target="/ppt/notesSlides/notesSlide5.xml" Id="R67aecf2da76942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704942d804d9c" /><Relationship Type="http://schemas.openxmlformats.org/officeDocument/2006/relationships/notesSlide" Target="/ppt/notesSlides/notesSlide6.xml" Id="R3674e282a66a43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50687a71a4b2f" /><Relationship Type="http://schemas.openxmlformats.org/officeDocument/2006/relationships/notesSlide" Target="/ppt/notesSlides/notesSlide7.xml" Id="Rb014c0368f3f49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ffeb9c7627491a" /><Relationship Type="http://schemas.openxmlformats.org/officeDocument/2006/relationships/notesSlide" Target="/ppt/notesSlides/notesSlide8.xml" Id="Ra7508a03167246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5175ab2934644" /><Relationship Type="http://schemas.openxmlformats.org/officeDocument/2006/relationships/notesSlide" Target="/ppt/notesSlides/notesSlide9.xml" Id="R804c4c4e7fef48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add6086744d57" /><Relationship Type="http://schemas.openxmlformats.org/officeDocument/2006/relationships/notesSlide" Target="/ppt/notesSlides/notesSlide10.xml" Id="R09d3f70f8cf241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8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8994F9-D088-4FA7-902A-56DEE0B9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C6DDF-3909-4396-B85A-9DEAB19A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23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7722"/>
                </a:solidFill>
              </a:defRPr>
            </a:pPr>
            <a:r>
              <a:rPr sz="1500" b="1">
                <a:solidFill>
                  <a:srgbClr val="E87722"/>
                </a:solidFill>
              </a:rPr>
              <a:t>WORKSHOP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7EBE7-1EE2-446A-B637-603CFA19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Advanced Analysis, GeoComputation &amp; Systems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93E0F-7CA4-401C-8A0B-9962975C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Software-agnostic concept review • applied decision practice • targeted remediation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FE452E-213E-4D1E-BF20-21622429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Bucknell GISP-E / PreGISP Preparation Program</a:t>
            </a:r>
          </a:p>
        </p:txBody>
      </p:sp>
    </p:spTree>
    <p:extLst>
      <p:ext uri="{BB962C8B-B14F-4D97-AF65-F5344CB8AC3E}">
        <p14:creationId xmlns:p14="http://schemas.microsoft.com/office/powerpoint/2010/main" val="2093450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678E2-7C7A-4DC6-975C-5E6D5DF0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D99A6-CC19-471E-A04A-C60E4057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What you should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6FE96-02C6-4F08-967C-C502A935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12DAC-D254-471B-8CCD-C45905E5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1EF8C-FCA3-4782-A7D3-B7EAA6A3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Use computational thinking to structure reproducible geospatial workflows and algorithms.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Explain advanced data models, spatial indexing/query concepts, spatial statistics, and computational tradeoffs.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Design GIS system components and workflows with attention to performance, maintainability, interoperability, and validation.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Translate a geographic problem into pseudocode, processing logic, data structures, and testable outputs.</a:t>
            </a:r>
          </a:p>
        </p:txBody>
      </p:sp>
    </p:spTree>
    <p:extLst>
      <p:ext uri="{BB962C8B-B14F-4D97-AF65-F5344CB8AC3E}">
        <p14:creationId xmlns:p14="http://schemas.microsoft.com/office/powerpoint/2010/main" val="4706288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3EF3E-238F-40EF-9B61-D10D9259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3521DE-2ECD-420E-877A-D4B44C8B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The workshop moves from retrieval to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005F3-CC6B-4138-B12F-FECDC03F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238F0-1F62-4A00-9E5A-AA63FDE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46AEA-C364-4158-9336-536FA924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0–10  Retrieval diagnostic — Five short scenario questions sampled from the assigned competencies; students answer individually before discussion.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10–30  Concept bridge — Instructor connects prior coursework to the workshop's major ideas, explicitly naming common misconceptions.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30–75  Hands-on decision labs — Students work through two or three labs emphasizing method/data/design choices rather than software clicks.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75–95  Exam-style transfer — Students answer new scenarios individually, then defend answers in pairs.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95–112  Synthesis challenge — One integrated problem requiring students to connect multiple competencies.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83247"/>
                </a:solidFill>
              </a:defRPr>
            </a:pPr>
            <a:r>
              <a:rPr sz="1350" b="0">
                <a:solidFill>
                  <a:srgbClr val="183247"/>
                </a:solidFill>
              </a:rPr>
              <a:t>• 112–120  Exit ticket — Students identify one mastered idea, one remaining gap, and the specific UCGIS/assessment item they will use next.</a:t>
            </a:r>
          </a:p>
        </p:txBody>
      </p:sp>
    </p:spTree>
    <p:extLst>
      <p:ext uri="{BB962C8B-B14F-4D97-AF65-F5344CB8AC3E}">
        <p14:creationId xmlns:p14="http://schemas.microsoft.com/office/powerpoint/2010/main" val="1634270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D35DB-FFFA-4F87-A543-78DFF23B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EFB83-4980-4A35-A2D4-827B2AA3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Pseudocode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7513F1-32E6-499F-B5AF-D5F8300F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30A86-483E-43D4-A650-12CA8A80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29FBE-A3AB-40E9-A8AF-BD056576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Translate a multi-step suitability model into inputs, preprocessing, conditions, iteration, validation, logging and outputs.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9CDF2-7832-452E-821A-6B5CC7EE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ADF13-6E8B-4FE3-BDFF-0B51E176A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8B160-1BE1-47B3-B760-FAE81556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31903-F279-4A03-94B5-CC4B55E9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1354E-2D78-49FC-A5EA-77F2ACA3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666877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E04F-A28F-4D86-928A-D1A00B09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AA9D3-FEE7-416A-B0A6-BCD60FD6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Database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F8F2F-DB1A-4325-9959-9FE0D253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B4B76-6D43-4BCC-8414-D93FBB9D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73FFD-EFE4-46A6-A116-4D83F2C4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Choose indexing and query strategies for millions of points used in repeated spatial joins.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F1485-944C-4170-A011-740C1A83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80A64-01A0-4C34-B3D9-3DCBCFA1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EFED5-79EE-4295-888B-702A437A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6E5C1-57FA-446C-830E-07ECCCDE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C6F3B-A8DC-4795-8BCE-BF981658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7921128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49886-198A-4771-807B-A791902B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D646A-8BF3-48EC-8CDA-773547AD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Architecture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7FCEEF-1F33-4C04-ACE5-5BDDA65B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44A19-98B8-40F7-936C-60972B0A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A6BFF-3D72-4480-B0F7-959C5906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Design acquisition, storage, processing, services, clients, security, backup and monitoring for a shared GIS.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A7D33-0C28-457A-A75D-CB454985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A6D2F-6545-43F3-8C39-5D8EF6D8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56093-EF10-4B6C-89AA-29959308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1983A-40A5-4386-9C39-65F3CA22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BCAE7-C158-4726-B4D0-6A6274DF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13915270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E78BB-51E1-43B2-A95E-D7AE6FF1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ADD51-B637-4D36-8542-3395537E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Reproducibility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0AFDF-7632-426F-9CFF-076C9FCF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ADF6B4-961F-407F-822B-E26AB985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0FC02-EA33-411C-A5B9-75A239CF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7"/>
                </a:solidFill>
              </a:defRPr>
            </a:pPr>
            <a:r>
              <a:rPr sz="1875" b="1">
                <a:solidFill>
                  <a:srgbClr val="183247"/>
                </a:solidFill>
              </a:rPr>
              <a:t>Identify missing parameters, provenance, environments and tests in an analysis description.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68AFC-8882-46CD-8BC8-F33B5F5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Make a defensible 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5B20A-8E61-4BC1-8E54-973F9226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the geographic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the data, representation or method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State the assumptions behind the choice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38524-EA97-44BB-88DE-69ADD05B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9ECF4-156A-487F-A84E-E5A2E1D6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Test the choice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B89ED-FBB7-4DA9-9AD4-B167D102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the most likely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Describe a meaningful validation check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what evidence would change your conclusion</a:t>
            </a:r>
          </a:p>
        </p:txBody>
      </p:sp>
    </p:spTree>
    <p:extLst>
      <p:ext uri="{BB962C8B-B14F-4D97-AF65-F5344CB8AC3E}">
        <p14:creationId xmlns:p14="http://schemas.microsoft.com/office/powerpoint/2010/main" val="4519460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97EAB5-FCFE-4B75-A7B3-8C03C7A8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1DF23-1371-4707-B2AC-AF23986B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Misconceptions worth challenging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40EDA-89A8-4DE1-BB94-FC986318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46272C-4070-45E5-83B9-1FD09ED9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F419B-A5F2-4522-9FAE-587696E5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28750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Automation makes a workflow reproducible by itself.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A faster algorithm is always a better GIS solution.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Database design is separate from analysis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System architecture is an IT concern with no effect on GIS results.</a:t>
            </a:r>
          </a:p>
        </p:txBody>
      </p:sp>
    </p:spTree>
    <p:extLst>
      <p:ext uri="{BB962C8B-B14F-4D97-AF65-F5344CB8AC3E}">
        <p14:creationId xmlns:p14="http://schemas.microsoft.com/office/powerpoint/2010/main" val="7160839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543A7-4A61-4929-92A1-72291809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B80EC-2088-4E50-A3EB-7585F355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Independent mastery requires more than recognition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26341-0EDD-4EE9-AF19-D92ADD2E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F7B8D-5BD7-4198-899B-27C4D604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1F447-B683-4F92-A392-B8E13407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Evidence of mastery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C28779-5C4E-4FFD-9BD8-EF8AB778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Explain the concept in plain language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Select and justify it in a new scenario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Interpret output in geographic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27B96-E37E-43C6-9638-0197AB9D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28575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F370B-3BC7-4A2F-B245-387C50FD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381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3865"/>
                </a:solidFill>
              </a:defRPr>
            </a:pPr>
            <a:r>
              <a:rPr sz="1800" b="1">
                <a:solidFill>
                  <a:srgbClr val="003865"/>
                </a:solidFill>
              </a:rPr>
              <a:t>Quality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AFF26-397D-4B5D-8731-F75579EB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Identify an inappropriate use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Name a limitation or assumption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83247"/>
                </a:solidFill>
              </a:defRPr>
            </a:pPr>
            <a:r>
              <a:rPr sz="1500" b="0">
                <a:solidFill>
                  <a:srgbClr val="183247"/>
                </a:solidFill>
              </a:rPr>
              <a:t>• Design a validation strategy</a:t>
            </a:r>
          </a:p>
        </p:txBody>
      </p:sp>
    </p:spTree>
    <p:extLst>
      <p:ext uri="{BB962C8B-B14F-4D97-AF65-F5344CB8AC3E}">
        <p14:creationId xmlns:p14="http://schemas.microsoft.com/office/powerpoint/2010/main" val="2580081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8DB98-02AE-4E85-BB26-66931EA7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D0A36-1703-4FA9-935F-F23CD4FF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3865"/>
                </a:solidFill>
              </a:defRPr>
            </a:pPr>
            <a:r>
              <a:rPr sz="2700" b="1">
                <a:solidFill>
                  <a:srgbClr val="003865"/>
                </a:solidFill>
              </a:rPr>
              <a:t>Turn remaining gaps into a short action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EBCE3E-D49B-440C-BCF9-FCB98B7E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7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A630A-49F0-4F17-A85C-FBED4526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Bucknell GISP-E / PreGISP Preparation Program  • 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40978B-E6FC-4AF4-ABE3-94BF77CC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1038225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Re-rate each assigned competency from 0–3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Review missed-item explanations and linked Book of Knowledge topics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Complete the matching workshop practice and ESRI training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Retest with mixed questions 48–72 hours later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83247"/>
                </a:solidFill>
              </a:defRPr>
            </a:pPr>
            <a:r>
              <a:rPr sz="1650" b="0">
                <a:solidFill>
                  <a:srgbClr val="183247"/>
                </a:solidFill>
              </a:rPr>
              <a:t>• Record evidence of improvement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5F4E40-FD71-4D25-B93C-AF63E965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05A70"/>
                </a:solidFill>
              </a:defRPr>
            </a:pPr>
            <a:r>
              <a:rPr sz="900" b="0">
                <a:solidFill>
                  <a:srgbClr val="405A70"/>
                </a:solidFill>
              </a:rPr>
              <a:t>Source: GISP-E Chronological Six-Workshop Program, Bucknell University, Fall 2026</a:t>
            </a:r>
          </a:p>
        </p:txBody>
      </p:sp>
    </p:spTree>
    <p:extLst>
      <p:ext uri="{BB962C8B-B14F-4D97-AF65-F5344CB8AC3E}">
        <p14:creationId xmlns:p14="http://schemas.microsoft.com/office/powerpoint/2010/main" val="7366704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2026-08-27T13:29:57.4610000Z</dcterms:created>
  <dcterms:modified xsi:type="dcterms:W3CDTF">2026-08-27T13:29:57.4610000Z</dcterms:modified>
</coreProperties>
</file>