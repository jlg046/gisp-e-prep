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4a3e11b5fc4ff8" /><Relationship Type="http://schemas.openxmlformats.org/officeDocument/2006/relationships/extended-properties" Target="/docProps/app.xml" Id="Rbccdf96b214e4b55" /><Relationship Type="http://schemas.openxmlformats.org/officeDocument/2006/relationships/officeDocument" Target="/ppt/presentation.xml" Id="R0ac55316ab8a4d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ba75cf222f4086"/>
  </p:sldMasterIdLst>
  <p:notesMasterIdLst>
    <p:notesMasterId xmlns:r="http://schemas.openxmlformats.org/officeDocument/2006/relationships" r:id="Rcfdb233619e0432d"/>
  </p:notesMasterIdLst>
  <p:sldIdLst>
    <p:sldId xmlns:r="http://schemas.openxmlformats.org/officeDocument/2006/relationships" id="256" r:id="R51170d497d3d4cc5"/>
    <p:sldId xmlns:r="http://schemas.openxmlformats.org/officeDocument/2006/relationships" id="257" r:id="R4db7d6cd07d747fd"/>
    <p:sldId xmlns:r="http://schemas.openxmlformats.org/officeDocument/2006/relationships" id="258" r:id="R20a421151d0b4cd4"/>
    <p:sldId xmlns:r="http://schemas.openxmlformats.org/officeDocument/2006/relationships" id="259" r:id="R18713f5ab2e44e4b"/>
    <p:sldId xmlns:r="http://schemas.openxmlformats.org/officeDocument/2006/relationships" id="260" r:id="R0b479599703b4ff1"/>
    <p:sldId xmlns:r="http://schemas.openxmlformats.org/officeDocument/2006/relationships" id="261" r:id="Rfb840bd816674820"/>
    <p:sldId xmlns:r="http://schemas.openxmlformats.org/officeDocument/2006/relationships" id="262" r:id="R922e399b7e554257"/>
    <p:sldId xmlns:r="http://schemas.openxmlformats.org/officeDocument/2006/relationships" id="263" r:id="R57b794cdc4784efa"/>
    <p:sldId xmlns:r="http://schemas.openxmlformats.org/officeDocument/2006/relationships" id="264" r:id="R72663bed181c4ad7"/>
    <p:sldId xmlns:r="http://schemas.openxmlformats.org/officeDocument/2006/relationships" id="265" r:id="Ra7a1c101e6c342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d6443045b24d53" /><Relationship Type="http://schemas.openxmlformats.org/officeDocument/2006/relationships/slideMaster" Target="/ppt/slideMasters/slideMaster1.xml" Id="R98ba75cf222f4086" /><Relationship Type="http://schemas.openxmlformats.org/officeDocument/2006/relationships/notesMaster" Target="/ppt/notesMasters/notesMaster1.xml" Id="Rcfdb233619e0432d" /><Relationship Type="http://schemas.openxmlformats.org/officeDocument/2006/relationships/presProps" Target="/ppt/presProps.xml" Id="R3b0ff303c21f4477" /><Relationship Type="http://schemas.openxmlformats.org/officeDocument/2006/relationships/tableStyles" Target="/ppt/tableStyles.xml" Id="Ra4171e214c8d476a" /><Relationship Type="http://schemas.openxmlformats.org/officeDocument/2006/relationships/slide" Target="/ppt/slides/slide1.xml" Id="R51170d497d3d4cc5" /><Relationship Type="http://schemas.openxmlformats.org/officeDocument/2006/relationships/slide" Target="/ppt/slides/slide2.xml" Id="R4db7d6cd07d747fd" /><Relationship Type="http://schemas.openxmlformats.org/officeDocument/2006/relationships/slide" Target="/ppt/slides/slide3.xml" Id="R20a421151d0b4cd4" /><Relationship Type="http://schemas.openxmlformats.org/officeDocument/2006/relationships/slide" Target="/ppt/slides/slide4.xml" Id="R18713f5ab2e44e4b" /><Relationship Type="http://schemas.openxmlformats.org/officeDocument/2006/relationships/slide" Target="/ppt/slides/slide5.xml" Id="R0b479599703b4ff1" /><Relationship Type="http://schemas.openxmlformats.org/officeDocument/2006/relationships/slide" Target="/ppt/slides/slide6.xml" Id="Rfb840bd816674820" /><Relationship Type="http://schemas.openxmlformats.org/officeDocument/2006/relationships/slide" Target="/ppt/slides/slide7.xml" Id="R922e399b7e554257" /><Relationship Type="http://schemas.openxmlformats.org/officeDocument/2006/relationships/slide" Target="/ppt/slides/slide8.xml" Id="R57b794cdc4784efa" /><Relationship Type="http://schemas.openxmlformats.org/officeDocument/2006/relationships/slide" Target="/ppt/slides/slide9.xml" Id="R72663bed181c4ad7" /><Relationship Type="http://schemas.openxmlformats.org/officeDocument/2006/relationships/slide" Target="/ppt/slides/slide10.xml" Id="Ra7a1c101e6c342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d18413119c41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7198972f3d4725" /><Relationship Type="http://schemas.openxmlformats.org/officeDocument/2006/relationships/notesMaster" Target="/ppt/notesMasters/notesMaster1.xml" Id="Rf194a8958f054a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885bf7195b49cc" /><Relationship Type="http://schemas.openxmlformats.org/officeDocument/2006/relationships/notesMaster" Target="/ppt/notesMasters/notesMaster1.xml" Id="R4f843a3b859f43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8ab010c87f4b4d" /><Relationship Type="http://schemas.openxmlformats.org/officeDocument/2006/relationships/notesMaster" Target="/ppt/notesMasters/notesMaster1.xml" Id="R9d31472418414a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f85fb41eec4408" /><Relationship Type="http://schemas.openxmlformats.org/officeDocument/2006/relationships/notesMaster" Target="/ppt/notesMasters/notesMaster1.xml" Id="R1fc97e7426a149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2ab496c1004439" /><Relationship Type="http://schemas.openxmlformats.org/officeDocument/2006/relationships/notesMaster" Target="/ppt/notesMasters/notesMaster1.xml" Id="R1cc1be09275345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ac330d164c4183" /><Relationship Type="http://schemas.openxmlformats.org/officeDocument/2006/relationships/notesMaster" Target="/ppt/notesMasters/notesMaster1.xml" Id="Rfd33e86f23804f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e474e437bd4dd1" /><Relationship Type="http://schemas.openxmlformats.org/officeDocument/2006/relationships/notesMaster" Target="/ppt/notesMasters/notesMaster1.xml" Id="Rc3a365b575ab47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0b8aebd4924256" /><Relationship Type="http://schemas.openxmlformats.org/officeDocument/2006/relationships/notesMaster" Target="/ppt/notesMasters/notesMaster1.xml" Id="R0dc84c1929cb46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8516324a0a4947" /><Relationship Type="http://schemas.openxmlformats.org/officeDocument/2006/relationships/notesMaster" Target="/ppt/notesMasters/notesMaster1.xml" Id="R66b71d2e6c4d42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c62d6dfca7425f" /><Relationship Type="http://schemas.openxmlformats.org/officeDocument/2006/relationships/notesMaster" Target="/ppt/notesMasters/notesMaster1.xml" Id="R0c665d09955b46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1fc87b9e34d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204c5c67d4a5b" /><Relationship Type="http://schemas.openxmlformats.org/officeDocument/2006/relationships/slideLayout" Target="/ppt/slideLayouts/slideLayout1.xml" Id="R2d668a7841364e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668a7841364e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32587b7a247f4" /><Relationship Type="http://schemas.openxmlformats.org/officeDocument/2006/relationships/notesSlide" Target="/ppt/notesSlides/notesSlide1.xml" Id="R1c45a82e870e49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e5ff99e724966" /><Relationship Type="http://schemas.openxmlformats.org/officeDocument/2006/relationships/notesSlide" Target="/ppt/notesSlides/notesSlide2.xml" Id="Rabb4f3a1f34f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ad94b9cfa40ba" /><Relationship Type="http://schemas.openxmlformats.org/officeDocument/2006/relationships/notesSlide" Target="/ppt/notesSlides/notesSlide3.xml" Id="Ra62232cab1a5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bd87641f44afa" /><Relationship Type="http://schemas.openxmlformats.org/officeDocument/2006/relationships/notesSlide" Target="/ppt/notesSlides/notesSlide4.xml" Id="R1a4fc29951c0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c3941777042d7" /><Relationship Type="http://schemas.openxmlformats.org/officeDocument/2006/relationships/notesSlide" Target="/ppt/notesSlides/notesSlide5.xml" Id="R42daca724e3144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62534920f4c22" /><Relationship Type="http://schemas.openxmlformats.org/officeDocument/2006/relationships/notesSlide" Target="/ppt/notesSlides/notesSlide6.xml" Id="R1aa5e01485e04e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987b9c9f6460c" /><Relationship Type="http://schemas.openxmlformats.org/officeDocument/2006/relationships/notesSlide" Target="/ppt/notesSlides/notesSlide7.xml" Id="R8428379c28f548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f47835df94027" /><Relationship Type="http://schemas.openxmlformats.org/officeDocument/2006/relationships/notesSlide" Target="/ppt/notesSlides/notesSlide8.xml" Id="R10fd824c864e45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062dd663b4087" /><Relationship Type="http://schemas.openxmlformats.org/officeDocument/2006/relationships/notesSlide" Target="/ppt/notesSlides/notesSlide9.xml" Id="R2f28c1bf7bfc43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e893ad1844810" /><Relationship Type="http://schemas.openxmlformats.org/officeDocument/2006/relationships/notesSlide" Target="/ppt/notesSlides/notesSlide10.xml" Id="R2ad1cc2803944f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37B68-6F2A-4786-A950-7529B46F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7730F-D8EC-46B7-804E-338EB998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WORKSHOP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3874D-6588-4207-9A71-06DBEAAA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Spatial Analysis &amp; Remote Sensing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59639-87C5-47CE-BF3C-6466DDA5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Software-agnostic concept review • applied decision practice • targeted remediation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2108A-891A-4018-81D6-C290699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Bucknell GISP-E / PreGISP Preparation Program</a:t>
            </a:r>
          </a:p>
        </p:txBody>
      </p:sp>
    </p:spTree>
    <p:extLst>
      <p:ext uri="{BB962C8B-B14F-4D97-AF65-F5344CB8AC3E}">
        <p14:creationId xmlns:p14="http://schemas.microsoft.com/office/powerpoint/2010/main" val="131223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09F95-C4FC-4269-A869-D217008B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F763B-8EE8-4E17-89B7-DB415CD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What you should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52205-1EBB-46E8-BF3C-BCE4B96F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AA4F5-BE4F-496A-8D72-A7D5C18D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D33B9-84FF-4C9B-AF91-6B7391C5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Select appropriate analytical methods for proximity, overlay, surfaces, networks, spatial statistics, temporal analysis, and optimization.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State assumptions, parameter choices, validation strategies, and likely failure modes for spatial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Connect remote-sensing physical principles and resolution to sensor/platform selection and image-analysis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Interpret analytical and remotely sensed outputs without confusing computational output with valid geographic inference.</a:t>
            </a:r>
          </a:p>
        </p:txBody>
      </p:sp>
    </p:spTree>
    <p:extLst>
      <p:ext uri="{BB962C8B-B14F-4D97-AF65-F5344CB8AC3E}">
        <p14:creationId xmlns:p14="http://schemas.microsoft.com/office/powerpoint/2010/main" val="47750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7411B-989B-4CC6-B342-6241C80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4E410-ADA6-4642-8540-446F2C31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workshop moves from retrieval to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002B2-3A72-440B-9590-F6B087F0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89969-33B1-485E-BAC2-62A268F2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1E6A4-EB81-4210-8303-E64573B6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0–10  Retrieval diagnostic — Five short scenario questions sampled from the assigned competencies; students answer individually before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10–30  Concept bridge — Instructor connects prior coursework to the workshop's major ideas, explicitly naming common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30–75  Hands-on decision labs — Students work through two or three labs emphasizing method/data/design choices rather than software clicks.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75–95  Exam-style transfer — Students answer new scenarios individually, then defend answers in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95–112  Synthesis challenge — One integrated problem requiring students to connect multiple competencies.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112–120  Exit ticket — Students identify one mastered idea, one remaining gap, and the specific UCGIS/assessment item they will use next.</a:t>
            </a:r>
          </a:p>
        </p:txBody>
      </p:sp>
    </p:spTree>
    <p:extLst>
      <p:ext uri="{BB962C8B-B14F-4D97-AF65-F5344CB8AC3E}">
        <p14:creationId xmlns:p14="http://schemas.microsoft.com/office/powerpoint/2010/main" val="1922003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AA4DF-D8FB-474F-9D02-2C5E9D16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CCC9D-4DA4-4C2E-8D75-4D3DBF05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Method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D1FD4-A814-46D2-9292-03121AE2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62B17-1E7A-4A75-AC7D-6A79B29E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44639-A7AD-4610-B189-5B8E8CBD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Choose and justify methods for service areas, habitat suitability, interpolation, hot spots and watershed delineation.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B5F18-B9A5-42BA-B2D4-52B5AD1A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A3865-65AC-42CE-88AC-6A62D360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5FDCD-F3C8-46A2-93B8-72EC3E0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25275-D105-4D84-ADDB-FC03353C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3BB72-3B80-41DD-8A3A-78DD8255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866418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7AC75-A1AD-4E1D-9C6B-67C09645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0924A-00DC-4873-B8E9-B803EAE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Sensitivity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8E723-CFB5-43DE-BE5F-9CBDAB6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BC8B-2E2D-4D13-9856-DAB13995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6C338-B57A-413E-9532-823C672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Change a neighborhood distance or interpolation parameter and explain which conclusions are stable.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3DA29-D765-40C9-8C99-C091B2D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856F9-6072-4C04-B0BE-1DD61798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534D1-9991-4BC3-A55E-7502AA23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53C3F-9E7F-4A4B-9247-8CB1F53C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93C34-DB71-475B-808F-99136B04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724798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90319-B1AC-4B1A-A90C-B6890C5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90D1D-76A0-4F0C-8951-E7D54C91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Sensor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15999-18BF-4D95-A47D-3E5407DE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7BA87-BF36-4174-92CF-A4444B60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EEB74-8B07-43F3-A540-8C0DB049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Match flood mapping, vegetation stress and nighttime temperature to appropriate platforms, wavelengths and resolutions.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C985F-889F-43A5-84BC-5D6B2953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482C0-D612-41A2-BD00-2A995121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C4DA7-E33C-4E55-BB8A-14918352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A4F18-41A9-4151-8B22-ED927108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44F5A-227B-43B1-B75D-57D446B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595780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85EB5-1FBE-47AE-95E4-83E43F23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8ECA2-7361-4776-B865-78C96E77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Validation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0E8DC-49E0-4B74-AC22-31DF31EA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8FB95-4A9A-4224-98DF-97F799C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4A4F5-C4AD-470C-8997-CF5980D4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Interpret a confusion matrix and decide whether accuracy is adequate for the stated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0141F-9D0E-4A2A-ABAC-EBAE54EB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D5201-8481-444C-815B-C4364892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2FABF-546E-491D-93F0-A6404909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C7D72-1835-4879-8162-B1585C61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41F8D-CA12-40DB-A51F-123D01AC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349726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4ADC6-B6C0-4661-9FCE-287815A7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1E20F-8409-4F32-AE59-B902A96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Misconceptions worth challenging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7187C-ED40-423D-A241-4419F9FB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51A68-E5A0-4B22-86C5-90458CF5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88E66-1F47-45F5-83D8-ADC3196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The tool name determines the correct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Spatial correlation implies causal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Default parameters are neutral.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Higher remote-sensing resolution is always preferable.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 high model/accuracy statistic eliminates the need for geographic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543496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B6BB6-87CD-4290-A95F-F153B350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C4588-D24F-48F0-878F-7C137E0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Independent mastery requires more than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DF9D1-A802-468A-9797-1F379DEF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4C769-3CEA-47DB-B44A-64A46A66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6B45F-2E81-4D63-8D68-8FC24FE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Evidence of mastery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6E70E-40E1-4935-AD28-12B6B90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the concept in plain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and justify it in a new scenario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Interpret output in geographic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D04F1-C5F7-4594-A0E7-0EB303E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AA269-9742-41DB-8DAC-E837F1BA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Quality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CA557-6AA6-4E89-9F8F-3A2CF64D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an inappropriate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a limitation or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Design a validation strategy</a:t>
            </a:r>
          </a:p>
        </p:txBody>
      </p:sp>
    </p:spTree>
    <p:extLst>
      <p:ext uri="{BB962C8B-B14F-4D97-AF65-F5344CB8AC3E}">
        <p14:creationId xmlns:p14="http://schemas.microsoft.com/office/powerpoint/2010/main" val="198364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983CE-F6B0-455A-B953-CC343BD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9D875-FD0A-43D1-B35B-108E031C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Turn remaining gaps into a short 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5E935-5F06-4FC5-ADAC-9A567C17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DE708-71EC-47F1-9BF4-36A06C1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9B3FC-072C-4799-8FD3-CBF76CD6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Re-rate each assigned competency from 0–3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Review missed-item explanations and linked Book of Knowledge topics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Complete the matching workshop practice and ESRI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Retest with mixed questions 48–72 hours later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Record evidence of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61756-F668-4A24-90B7-565B41A8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Source: GISP-E Chronological Six-Workshop Program, Bucknell University, Fall 2026</a:t>
            </a:r>
          </a:p>
        </p:txBody>
      </p:sp>
    </p:spTree>
    <p:extLst>
      <p:ext uri="{BB962C8B-B14F-4D97-AF65-F5344CB8AC3E}">
        <p14:creationId xmlns:p14="http://schemas.microsoft.com/office/powerpoint/2010/main" val="1879301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2026-08-27T13:29:57.2750000Z</dcterms:created>
  <dcterms:modified xsi:type="dcterms:W3CDTF">2026-08-27T13:29:57.2750000Z</dcterms:modified>
</coreProperties>
</file>