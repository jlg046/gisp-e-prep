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8d796659604a22" /><Relationship Type="http://schemas.openxmlformats.org/officeDocument/2006/relationships/extended-properties" Target="/docProps/app.xml" Id="R1116bf3dd6794108" /><Relationship Type="http://schemas.openxmlformats.org/officeDocument/2006/relationships/officeDocument" Target="/ppt/presentation.xml" Id="Rbb73358de204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5ba4e92d04a4a"/>
  </p:sldMasterIdLst>
  <p:notesMasterIdLst>
    <p:notesMasterId xmlns:r="http://schemas.openxmlformats.org/officeDocument/2006/relationships" r:id="R1097d1b94d7f4518"/>
  </p:notesMasterIdLst>
  <p:sldIdLst>
    <p:sldId xmlns:r="http://schemas.openxmlformats.org/officeDocument/2006/relationships" id="256" r:id="R5af505da541444f1"/>
    <p:sldId xmlns:r="http://schemas.openxmlformats.org/officeDocument/2006/relationships" id="257" r:id="R5d89e3d6ce944521"/>
    <p:sldId xmlns:r="http://schemas.openxmlformats.org/officeDocument/2006/relationships" id="258" r:id="R4e15b8f830674181"/>
    <p:sldId xmlns:r="http://schemas.openxmlformats.org/officeDocument/2006/relationships" id="259" r:id="R5bfc27f742784134"/>
    <p:sldId xmlns:r="http://schemas.openxmlformats.org/officeDocument/2006/relationships" id="260" r:id="R680c8b1d0bbe41f0"/>
    <p:sldId xmlns:r="http://schemas.openxmlformats.org/officeDocument/2006/relationships" id="261" r:id="R28798d43a02246f9"/>
    <p:sldId xmlns:r="http://schemas.openxmlformats.org/officeDocument/2006/relationships" id="262" r:id="R0cc2ef4e7fcc4a3c"/>
    <p:sldId xmlns:r="http://schemas.openxmlformats.org/officeDocument/2006/relationships" id="263" r:id="Ra3e4a5bc0bb94612"/>
    <p:sldId xmlns:r="http://schemas.openxmlformats.org/officeDocument/2006/relationships" id="264" r:id="R51978434a4b94c64"/>
    <p:sldId xmlns:r="http://schemas.openxmlformats.org/officeDocument/2006/relationships" id="265" r:id="R8580c29f8cd446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9325a21701462b" /><Relationship Type="http://schemas.openxmlformats.org/officeDocument/2006/relationships/slideMaster" Target="/ppt/slideMasters/slideMaster1.xml" Id="Rdc15ba4e92d04a4a" /><Relationship Type="http://schemas.openxmlformats.org/officeDocument/2006/relationships/notesMaster" Target="/ppt/notesMasters/notesMaster1.xml" Id="R1097d1b94d7f4518" /><Relationship Type="http://schemas.openxmlformats.org/officeDocument/2006/relationships/presProps" Target="/ppt/presProps.xml" Id="Rf20ba3c43a144d90" /><Relationship Type="http://schemas.openxmlformats.org/officeDocument/2006/relationships/tableStyles" Target="/ppt/tableStyles.xml" Id="Rd82b64c783394fff" /><Relationship Type="http://schemas.openxmlformats.org/officeDocument/2006/relationships/slide" Target="/ppt/slides/slide1.xml" Id="R5af505da541444f1" /><Relationship Type="http://schemas.openxmlformats.org/officeDocument/2006/relationships/slide" Target="/ppt/slides/slide2.xml" Id="R5d89e3d6ce944521" /><Relationship Type="http://schemas.openxmlformats.org/officeDocument/2006/relationships/slide" Target="/ppt/slides/slide3.xml" Id="R4e15b8f830674181" /><Relationship Type="http://schemas.openxmlformats.org/officeDocument/2006/relationships/slide" Target="/ppt/slides/slide4.xml" Id="R5bfc27f742784134" /><Relationship Type="http://schemas.openxmlformats.org/officeDocument/2006/relationships/slide" Target="/ppt/slides/slide5.xml" Id="R680c8b1d0bbe41f0" /><Relationship Type="http://schemas.openxmlformats.org/officeDocument/2006/relationships/slide" Target="/ppt/slides/slide6.xml" Id="R28798d43a02246f9" /><Relationship Type="http://schemas.openxmlformats.org/officeDocument/2006/relationships/slide" Target="/ppt/slides/slide7.xml" Id="R0cc2ef4e7fcc4a3c" /><Relationship Type="http://schemas.openxmlformats.org/officeDocument/2006/relationships/slide" Target="/ppt/slides/slide8.xml" Id="Ra3e4a5bc0bb94612" /><Relationship Type="http://schemas.openxmlformats.org/officeDocument/2006/relationships/slide" Target="/ppt/slides/slide9.xml" Id="R51978434a4b94c64" /><Relationship Type="http://schemas.openxmlformats.org/officeDocument/2006/relationships/slide" Target="/ppt/slides/slide10.xml" Id="R8580c29f8cd446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be8309c86d4d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5a7c7f90444944" /><Relationship Type="http://schemas.openxmlformats.org/officeDocument/2006/relationships/notesMaster" Target="/ppt/notesMasters/notesMaster1.xml" Id="R50cdfc74d33c47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0edba034734457" /><Relationship Type="http://schemas.openxmlformats.org/officeDocument/2006/relationships/notesMaster" Target="/ppt/notesMasters/notesMaster1.xml" Id="R42f02e5be87d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7ceb3b35d04911" /><Relationship Type="http://schemas.openxmlformats.org/officeDocument/2006/relationships/notesMaster" Target="/ppt/notesMasters/notesMaster1.xml" Id="R62ad100cacb1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319d68875847b6" /><Relationship Type="http://schemas.openxmlformats.org/officeDocument/2006/relationships/notesMaster" Target="/ppt/notesMasters/notesMaster1.xml" Id="R26c0f9ebbc4242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08f42048b34e5a" /><Relationship Type="http://schemas.openxmlformats.org/officeDocument/2006/relationships/notesMaster" Target="/ppt/notesMasters/notesMaster1.xml" Id="R78fc0d1947cc4e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c0097713534e85" /><Relationship Type="http://schemas.openxmlformats.org/officeDocument/2006/relationships/notesMaster" Target="/ppt/notesMasters/notesMaster1.xml" Id="R28c38bc0ed6446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f04e5b6f3748fe" /><Relationship Type="http://schemas.openxmlformats.org/officeDocument/2006/relationships/notesMaster" Target="/ppt/notesMasters/notesMaster1.xml" Id="Rc843d7d8366b43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5ec49961784275" /><Relationship Type="http://schemas.openxmlformats.org/officeDocument/2006/relationships/notesMaster" Target="/ppt/notesMasters/notesMaster1.xml" Id="R125c9adc6a1c4c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b472512d54600" /><Relationship Type="http://schemas.openxmlformats.org/officeDocument/2006/relationships/notesMaster" Target="/ppt/notesMasters/notesMaster1.xml" Id="Rfdf49ae8b6c941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1f99871a8a47a7" /><Relationship Type="http://schemas.openxmlformats.org/officeDocument/2006/relationships/notesMaster" Target="/ppt/notesMasters/notesMaster1.xml" Id="R91cb0f1165b5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ce401633c43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e4d5446f9f4f71" /><Relationship Type="http://schemas.openxmlformats.org/officeDocument/2006/relationships/slideLayout" Target="/ppt/slideLayouts/slideLayout1.xml" Id="R794cb2c1b7254c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cb2c1b7254c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91a67268c409a" /><Relationship Type="http://schemas.openxmlformats.org/officeDocument/2006/relationships/notesSlide" Target="/ppt/notesSlides/notesSlide1.xml" Id="Rff4e6c762296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14529ce04690" /><Relationship Type="http://schemas.openxmlformats.org/officeDocument/2006/relationships/notesSlide" Target="/ppt/notesSlides/notesSlide2.xml" Id="Rd41ff7807fbe48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62aad953042b6" /><Relationship Type="http://schemas.openxmlformats.org/officeDocument/2006/relationships/notesSlide" Target="/ppt/notesSlides/notesSlide3.xml" Id="Rbd2a3c3c20c44a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aae6f1f924862" /><Relationship Type="http://schemas.openxmlformats.org/officeDocument/2006/relationships/notesSlide" Target="/ppt/notesSlides/notesSlide4.xml" Id="Rc7dc2ad1d22340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7103f183146f4" /><Relationship Type="http://schemas.openxmlformats.org/officeDocument/2006/relationships/notesSlide" Target="/ppt/notesSlides/notesSlide5.xml" Id="Rdb6b042980c04b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c6486870549c1" /><Relationship Type="http://schemas.openxmlformats.org/officeDocument/2006/relationships/notesSlide" Target="/ppt/notesSlides/notesSlide6.xml" Id="Rae13364efa5f48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b7b2b9ea4c7c" /><Relationship Type="http://schemas.openxmlformats.org/officeDocument/2006/relationships/notesSlide" Target="/ppt/notesSlides/notesSlide7.xml" Id="Re4db632ffe334b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aa43e1d144f0c" /><Relationship Type="http://schemas.openxmlformats.org/officeDocument/2006/relationships/notesSlide" Target="/ppt/notesSlides/notesSlide8.xml" Id="R453245647ca747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64c2c03464e25" /><Relationship Type="http://schemas.openxmlformats.org/officeDocument/2006/relationships/notesSlide" Target="/ppt/notesSlides/notesSlide9.xml" Id="R25d80cfdab024d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e1eb7ea0f483a" /><Relationship Type="http://schemas.openxmlformats.org/officeDocument/2006/relationships/notesSlide" Target="/ppt/notesSlides/notesSlide10.xml" Id="R8759bb56eaa04f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0B3F2-0B32-454C-BE88-A51A590A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1C854-4714-4B2B-83DA-505C837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WORKSHOP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4AA88-99E6-4498-9823-F50F067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Web GIS, Advanced GeoComputation &amp; Responsible Communication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8BE54-D40B-4C59-B096-60C1134A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Software-agnostic concept review • applied decision practice • targeted remediation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2601C-8D02-4874-BD3F-34BCF3ED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Bucknell GISP-E / PreGISP Preparation Program</a:t>
            </a:r>
          </a:p>
        </p:txBody>
      </p:sp>
    </p:spTree>
    <p:extLst>
      <p:ext uri="{BB962C8B-B14F-4D97-AF65-F5344CB8AC3E}">
        <p14:creationId xmlns:p14="http://schemas.microsoft.com/office/powerpoint/2010/main" val="1383434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959FC-CF5F-4DC2-A706-918F6B27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4D87B-A87A-4E1B-80BF-9581163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What you should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DD2E7-C1D3-4E7D-BCB9-EBC5EBB4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AE6A3-2B50-4AC6-8D91-D19C346D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9E190-1107-4814-8868-01B94482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Explain web GIS architecture, services, APIs, clients, cloud/distributed concepts, and sharing/security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Evaluate advanced visualization and geospatial communication for interaction, uncertainty, accessibility, and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Recognize societal implications of geospatial technologies embedded in web, mobile, volunteered, and location-based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Integrate advanced computation, system design, data, and communication into an end-to-end web-enabled GIS workflow.</a:t>
            </a:r>
          </a:p>
        </p:txBody>
      </p:sp>
    </p:spTree>
    <p:extLst>
      <p:ext uri="{BB962C8B-B14F-4D97-AF65-F5344CB8AC3E}">
        <p14:creationId xmlns:p14="http://schemas.microsoft.com/office/powerpoint/2010/main" val="641066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46022-CDDA-4E93-AF0E-51A7AD8F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93ACB-2B53-40B0-A3EB-99EA1C39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workshop moves from retrieval to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E213A-0949-4BAD-9BB8-77822B7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A5C76-E651-4CEC-AB19-30F102CE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86A77-B360-490D-A749-DE04C837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0–10  Retrieval diagnostic — Five short scenario questions sampled from the assigned competencies; students answer individually before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10–30  Concept bridge — Instructor connects prior coursework to the workshop's major ideas, explicitly naming common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30–75  Hands-on decision labs — Students work through two or three labs emphasizing method/data/design choices rather than software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75–95  Exam-style transfer — Students answer new scenarios individually, then defend answers in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95–112  Synthesis challenge — One integrated problem requiring students to connect multiple competencies.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112–120  Exit ticket — Students identify one mastered idea, one remaining gap, and the specific UCGIS/assessment item they will use next.</a:t>
            </a:r>
          </a:p>
        </p:txBody>
      </p:sp>
    </p:spTree>
    <p:extLst>
      <p:ext uri="{BB962C8B-B14F-4D97-AF65-F5344CB8AC3E}">
        <p14:creationId xmlns:p14="http://schemas.microsoft.com/office/powerpoint/2010/main" val="2038813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CDC03-12D8-4ECE-9B0B-9D8515B3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F3819-7038-4C9B-86E5-0BCD7832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Request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C0B90-388F-4485-8161-73D305A2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00BCF-720C-4446-B556-A9BAC1A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38972-536B-4E83-A867-604234C8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Trace a web-map request through app, API/service, cache and database; diagnose likely latency and security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179EE-A865-4140-98FB-C97C6B0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AC587-AEB1-4078-B896-F49DA27E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B37FD-5A4F-459B-9F08-9A875A31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7D8F-EF0D-4C2B-8BC1-7CE1E4DC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63F99-88D3-4F49-8AC5-BE50292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332226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0F2C5-30B3-4366-BF9C-F86459B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74649-0115-4669-B79A-C3F2F79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Publish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9A909-C4E1-4901-8584-CA551BE3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9E108-0D5E-4512-BDE1-E1093E85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7756A-0D93-4BA8-A362-0ED92751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Choose service type, sharing scope, authentication and caching for a campus-facing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048D2-9716-4BDE-87BE-FBB2B9B8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B96C7-6B83-482A-B2D9-A86C3C2F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21BEE-0A31-43F6-B020-ED216097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51226-7AD5-4C0C-9CED-0182D9B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C194F-5C66-441E-A8A5-371311A5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961718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C63FD-8D5C-4AAF-A40A-0541A994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99175-13E7-4E8C-BB09-BF7C0651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Interaction critique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76F6F-48B7-46EF-8308-F2A88FBF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1D67C-7955-4A9B-B7EC-C128EC2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FDA12-2C6E-4E50-A976-ED5DD7B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Test an interactive map for accessibility, uncertainty, misleading defaults and scale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FEE9D-867D-4CF1-BBAA-815856DB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47FC1-A0A6-427F-A875-47F7ADBF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D1915-6006-4527-AE64-10887464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D8415-B1ED-45BE-96C8-D15B60F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36F51-CA18-4EC2-8258-7EB404E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111512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3661D-F8F1-4F06-B5F0-DDF39884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ED4E9-6B74-4A6C-A338-DD91E4D5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Responsible location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9CF3-FF24-4F07-BD6E-02E910ED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B217A-77FC-4F80-A16B-C3652B02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0F3CC-5673-4D91-A83D-F5E3C06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Evaluate privacy, participation and bias in a volunteered/mobile location-data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BC1BF-9369-4A14-BB1D-86C2C81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23AD8-8FD9-49F4-8D42-B33FF92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D52FE-44E8-4CC5-A399-5461F57C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C8544-1489-4923-9C6A-3E1B6D67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A3865-193E-4B5C-93DA-FFFDD94E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876224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3589A-3C1D-417D-AD0C-C60A926D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1DB3E-2F4F-4070-B650-0E5A4881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Misconceptions worth challenging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99B89-2A12-459F-94A8-8B3989F9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E98D3-28C9-4D76-ADF5-940D5B9D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D08BD-C5D9-400D-9608-EB6D372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 web map is simply a desktop map placed online.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APIs/services/data/web maps/apps are interchangeable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Public sharing is primarily a cartographic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Interactivity automatically improves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Location-based data are ethically neutral if technically public.</a:t>
            </a:r>
          </a:p>
        </p:txBody>
      </p:sp>
    </p:spTree>
    <p:extLst>
      <p:ext uri="{BB962C8B-B14F-4D97-AF65-F5344CB8AC3E}">
        <p14:creationId xmlns:p14="http://schemas.microsoft.com/office/powerpoint/2010/main" val="1773053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92EC5-FFFA-41E6-B835-7D8DC14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798DA-4D96-48D1-8E08-F67CA343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Independent mastery requires more than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8B7EB-E420-45A4-9AFC-4DB1875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1AA42-029D-4ACC-ACE8-BC7A6F6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18937-ED1E-4EF7-8547-10036712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Evidence of mastery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79F26-81CF-4D9F-B085-F1998C39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the concept in plain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and justify it in a new 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Interpret output in geographic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8D1A7-6B02-497F-8402-391ADFA0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5E1BB-A3D2-4940-BAE8-61403F84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Quality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48129-A4F0-4907-B575-E15AAB85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an inappropriate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a limitation or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Design a validation strategy</a:t>
            </a:r>
          </a:p>
        </p:txBody>
      </p:sp>
    </p:spTree>
    <p:extLst>
      <p:ext uri="{BB962C8B-B14F-4D97-AF65-F5344CB8AC3E}">
        <p14:creationId xmlns:p14="http://schemas.microsoft.com/office/powerpoint/2010/main" val="362172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58048-F8EC-4922-859D-CAAE5DF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F8FC6-087E-4A87-B8F8-5DB9E25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Turn remaining gaps into a short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10267-0BA1-45E6-8A47-F8AD669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8078A-06BD-4F57-ACC9-78A58F7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FA340-ED29-40D7-92D3-F6BA04C7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Re-rate each assigned competency from 0–3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Review missed-item explanations and linked Book of Knowledge topics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Complete the matching workshop practice and ESRI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Retest with mixed questions 48–72 hours later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Record evidence of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9C4C9-D7D7-4E69-8289-45D84F8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Source: GISP-E Chronological Six-Workshop Program, Bucknell University, Fall 2026</a:t>
            </a:r>
          </a:p>
        </p:txBody>
      </p:sp>
    </p:spTree>
    <p:extLst>
      <p:ext uri="{BB962C8B-B14F-4D97-AF65-F5344CB8AC3E}">
        <p14:creationId xmlns:p14="http://schemas.microsoft.com/office/powerpoint/2010/main" val="124444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2026-08-27T13:29:57.6350000Z</dcterms:created>
  <dcterms:modified xsi:type="dcterms:W3CDTF">2026-08-27T13:29:57.6350000Z</dcterms:modified>
</coreProperties>
</file>