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4eb44771974276" /><Relationship Type="http://schemas.openxmlformats.org/officeDocument/2006/relationships/extended-properties" Target="/docProps/app.xml" Id="Re51e4985b0804aa4" /><Relationship Type="http://schemas.openxmlformats.org/officeDocument/2006/relationships/officeDocument" Target="/ppt/presentation.xml" Id="R130eecc3836149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20f734802a4822"/>
  </p:sldMasterIdLst>
  <p:notesMasterIdLst>
    <p:notesMasterId xmlns:r="http://schemas.openxmlformats.org/officeDocument/2006/relationships" r:id="R8d321c3a1e684f41"/>
  </p:notesMasterIdLst>
  <p:sldIdLst>
    <p:sldId xmlns:r="http://schemas.openxmlformats.org/officeDocument/2006/relationships" id="256" r:id="Ra083061d7b404067"/>
    <p:sldId xmlns:r="http://schemas.openxmlformats.org/officeDocument/2006/relationships" id="257" r:id="Rbcdfb441590c49b2"/>
    <p:sldId xmlns:r="http://schemas.openxmlformats.org/officeDocument/2006/relationships" id="258" r:id="Rae052b240f00433e"/>
    <p:sldId xmlns:r="http://schemas.openxmlformats.org/officeDocument/2006/relationships" id="259" r:id="Rfba87e07be274902"/>
    <p:sldId xmlns:r="http://schemas.openxmlformats.org/officeDocument/2006/relationships" id="260" r:id="R0f033d9159894b47"/>
    <p:sldId xmlns:r="http://schemas.openxmlformats.org/officeDocument/2006/relationships" id="261" r:id="R91c871e643e14099"/>
    <p:sldId xmlns:r="http://schemas.openxmlformats.org/officeDocument/2006/relationships" id="262" r:id="Rf06ff23ef9884a53"/>
    <p:sldId xmlns:r="http://schemas.openxmlformats.org/officeDocument/2006/relationships" id="263" r:id="R90331abb4bf4440a"/>
    <p:sldId xmlns:r="http://schemas.openxmlformats.org/officeDocument/2006/relationships" id="264" r:id="Rcc0841d574764976"/>
    <p:sldId xmlns:r="http://schemas.openxmlformats.org/officeDocument/2006/relationships" id="265" r:id="Rc7a8191be08342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98f59d259a4ffd" /><Relationship Type="http://schemas.openxmlformats.org/officeDocument/2006/relationships/slideMaster" Target="/ppt/slideMasters/slideMaster1.xml" Id="Rb020f734802a4822" /><Relationship Type="http://schemas.openxmlformats.org/officeDocument/2006/relationships/notesMaster" Target="/ppt/notesMasters/notesMaster1.xml" Id="R8d321c3a1e684f41" /><Relationship Type="http://schemas.openxmlformats.org/officeDocument/2006/relationships/presProps" Target="/ppt/presProps.xml" Id="R7e29a1f357dd45e4" /><Relationship Type="http://schemas.openxmlformats.org/officeDocument/2006/relationships/tableStyles" Target="/ppt/tableStyles.xml" Id="Re782fecf37a3472b" /><Relationship Type="http://schemas.openxmlformats.org/officeDocument/2006/relationships/slide" Target="/ppt/slides/slide1.xml" Id="Ra083061d7b404067" /><Relationship Type="http://schemas.openxmlformats.org/officeDocument/2006/relationships/slide" Target="/ppt/slides/slide2.xml" Id="Rbcdfb441590c49b2" /><Relationship Type="http://schemas.openxmlformats.org/officeDocument/2006/relationships/slide" Target="/ppt/slides/slide3.xml" Id="Rae052b240f00433e" /><Relationship Type="http://schemas.openxmlformats.org/officeDocument/2006/relationships/slide" Target="/ppt/slides/slide4.xml" Id="Rfba87e07be274902" /><Relationship Type="http://schemas.openxmlformats.org/officeDocument/2006/relationships/slide" Target="/ppt/slides/slide5.xml" Id="R0f033d9159894b47" /><Relationship Type="http://schemas.openxmlformats.org/officeDocument/2006/relationships/slide" Target="/ppt/slides/slide6.xml" Id="R91c871e643e14099" /><Relationship Type="http://schemas.openxmlformats.org/officeDocument/2006/relationships/slide" Target="/ppt/slides/slide7.xml" Id="Rf06ff23ef9884a53" /><Relationship Type="http://schemas.openxmlformats.org/officeDocument/2006/relationships/slide" Target="/ppt/slides/slide8.xml" Id="R90331abb4bf4440a" /><Relationship Type="http://schemas.openxmlformats.org/officeDocument/2006/relationships/slide" Target="/ppt/slides/slide9.xml" Id="Rcc0841d574764976" /><Relationship Type="http://schemas.openxmlformats.org/officeDocument/2006/relationships/slide" Target="/ppt/slides/slide10.xml" Id="Rc7a8191be08342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14f982d1ed4f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49def632bc48e6" /><Relationship Type="http://schemas.openxmlformats.org/officeDocument/2006/relationships/notesMaster" Target="/ppt/notesMasters/notesMaster1.xml" Id="R3121b43835cd4e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7e20741ab14b36" /><Relationship Type="http://schemas.openxmlformats.org/officeDocument/2006/relationships/notesMaster" Target="/ppt/notesMasters/notesMaster1.xml" Id="R5bfc5503b5e5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abbeafbc08428d" /><Relationship Type="http://schemas.openxmlformats.org/officeDocument/2006/relationships/notesMaster" Target="/ppt/notesMasters/notesMaster1.xml" Id="R2bdaf8b149844c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452c28963b46a0" /><Relationship Type="http://schemas.openxmlformats.org/officeDocument/2006/relationships/notesMaster" Target="/ppt/notesMasters/notesMaster1.xml" Id="Rf2b3cd7c672246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ed01ce77aa4f73" /><Relationship Type="http://schemas.openxmlformats.org/officeDocument/2006/relationships/notesMaster" Target="/ppt/notesMasters/notesMaster1.xml" Id="R48506d0ba4fc44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d7037657534e3e" /><Relationship Type="http://schemas.openxmlformats.org/officeDocument/2006/relationships/notesMaster" Target="/ppt/notesMasters/notesMaster1.xml" Id="R92ca6626a5c242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6f9c5f21194277" /><Relationship Type="http://schemas.openxmlformats.org/officeDocument/2006/relationships/notesMaster" Target="/ppt/notesMasters/notesMaster1.xml" Id="Rd050d084b70c4e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d36674774c46da" /><Relationship Type="http://schemas.openxmlformats.org/officeDocument/2006/relationships/notesMaster" Target="/ppt/notesMasters/notesMaster1.xml" Id="Rd29c1b4a046643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c1e221e4cb48fd" /><Relationship Type="http://schemas.openxmlformats.org/officeDocument/2006/relationships/notesMaster" Target="/ppt/notesMasters/notesMaster1.xml" Id="R28a94f905d834c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8f69d7ef17427b" /><Relationship Type="http://schemas.openxmlformats.org/officeDocument/2006/relationships/notesMaster" Target="/ppt/notesMasters/notesMaster1.xml" Id="R188e267d5b9745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a40a7407e40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69b42d26d14c77" /><Relationship Type="http://schemas.openxmlformats.org/officeDocument/2006/relationships/slideLayout" Target="/ppt/slideLayouts/slideLayout1.xml" Id="R6c8085addd7148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8085addd7148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c045234964c58" /><Relationship Type="http://schemas.openxmlformats.org/officeDocument/2006/relationships/notesSlide" Target="/ppt/notesSlides/notesSlide1.xml" Id="R1abd616f79c742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989b8ad3d41ea" /><Relationship Type="http://schemas.openxmlformats.org/officeDocument/2006/relationships/notesSlide" Target="/ppt/notesSlides/notesSlide2.xml" Id="Rce4dc6c0980c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d7cfe2636436b" /><Relationship Type="http://schemas.openxmlformats.org/officeDocument/2006/relationships/notesSlide" Target="/ppt/notesSlides/notesSlide3.xml" Id="R45dc4f00df3649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e9f2a52e24092" /><Relationship Type="http://schemas.openxmlformats.org/officeDocument/2006/relationships/notesSlide" Target="/ppt/notesSlides/notesSlide4.xml" Id="R3638d74e196f40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c2b53594a4939" /><Relationship Type="http://schemas.openxmlformats.org/officeDocument/2006/relationships/notesSlide" Target="/ppt/notesSlides/notesSlide5.xml" Id="R6200c147923a4e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beda29ddc44fb" /><Relationship Type="http://schemas.openxmlformats.org/officeDocument/2006/relationships/notesSlide" Target="/ppt/notesSlides/notesSlide6.xml" Id="R6f1a3d99639b4e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64acf489349d9" /><Relationship Type="http://schemas.openxmlformats.org/officeDocument/2006/relationships/notesSlide" Target="/ppt/notesSlides/notesSlide7.xml" Id="Rb617f1d805b14e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1af7040604173" /><Relationship Type="http://schemas.openxmlformats.org/officeDocument/2006/relationships/notesSlide" Target="/ppt/notesSlides/notesSlide8.xml" Id="Rcbcc56c6efc94d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f2600a976491a" /><Relationship Type="http://schemas.openxmlformats.org/officeDocument/2006/relationships/notesSlide" Target="/ppt/notesSlides/notesSlide9.xml" Id="Ra5f9b71be36343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62a4ef9a74617" /><Relationship Type="http://schemas.openxmlformats.org/officeDocument/2006/relationships/notesSlide" Target="/ppt/notesSlides/notesSlide10.xml" Id="R63b57c2d882f4e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4E86B-CB7D-4B04-A93D-348AD516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1C13C-02FD-4106-B04D-6B485F6F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WORKSHOP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19708-AB74-4867-9AEC-E2262893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28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Professional Practice, Organizations, Ethics &amp; Integrative Applications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44B91-7410-4315-AE9B-0444D834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Software-agnostic concept review • applied decision practice • targeted remediation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5945E-64CD-45A7-970D-5C4C422F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Bucknell GISP-E / PreGISP Preparation Program</a:t>
            </a:r>
          </a:p>
        </p:txBody>
      </p:sp>
    </p:spTree>
    <p:extLst>
      <p:ext uri="{BB962C8B-B14F-4D97-AF65-F5344CB8AC3E}">
        <p14:creationId xmlns:p14="http://schemas.microsoft.com/office/powerpoint/2010/main" val="1522292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DD037-F35A-4E4F-87D0-0D2090CD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09FE7-5693-4818-A868-7615F7E5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What you should be able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269F1-8CF1-4E52-932C-B8A73438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1F51F-D173-4BF3-B4A9-FD104B84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7803B-FEB7-4452-9A72-5F34D790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Evaluate organizational, institutional, legal, ethical, workforce, project-management, and governance dimensions of GIS.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Transfer GIS&amp;T principles into multiple application domains and explain domain-specific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Defend a complete geospatial workflow from problem definition through data, analysis, communication, stewardship, and ethics.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Identify remaining individual GISP-E knowledge gaps and construct a targeted final remediation plan.</a:t>
            </a:r>
          </a:p>
        </p:txBody>
      </p:sp>
    </p:spTree>
    <p:extLst>
      <p:ext uri="{BB962C8B-B14F-4D97-AF65-F5344CB8AC3E}">
        <p14:creationId xmlns:p14="http://schemas.microsoft.com/office/powerpoint/2010/main" val="1458622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A3CF0-E2D4-48E0-8F09-35ADADC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25474-D3D8-464A-9F56-5A8B7FD6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workshop moves from retrieval to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AB0C3-DBA3-4F8D-B695-77FEF92E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E8F63-272C-4D2F-A9C3-884503BC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CB07E-60C1-461A-B01C-E8861C03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0–10  Retrieval diagnostic — Five short scenario questions sampled from the assigned competencies; students answer individually before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10–30  Concept bridge — Instructor connects prior coursework to the workshop's major ideas, explicitly naming common misconceptions.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30–75  Hands-on decision labs — Students work through two or three labs emphasizing method/data/design choices rather than software clicks.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75–95  Exam-style transfer — Students answer new scenarios individually, then defend answers in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95–112  Synthesis challenge — One integrated problem requiring students to connect multiple competencies.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112–120  Exit ticket — Students identify one mastered idea, one remaining gap, and the specific UCGIS/assessment item they will use next.</a:t>
            </a:r>
          </a:p>
        </p:txBody>
      </p:sp>
    </p:spTree>
    <p:extLst>
      <p:ext uri="{BB962C8B-B14F-4D97-AF65-F5344CB8AC3E}">
        <p14:creationId xmlns:p14="http://schemas.microsoft.com/office/powerpoint/2010/main" val="37891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FD0D4-00EB-42E5-A61C-B8816208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208F2-7DEC-4CF9-872A-CF597CD6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Governance role-play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C54FD-25EE-4576-B910-47D24C9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56AF3-0016-40DB-B3D2-F0F57842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C8D56-7DB0-4178-A27B-F4CA1F0D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Resolve a conflict among a data steward, analyst, manager, developer, stakeholder and privacy reviewer.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FA4D9-0F03-4AE9-8CC6-DC006796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697D0-74CC-49A4-8DF7-1BE4EB7C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9AC59-FAB6-4270-AFF3-7F316E3E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4C8FE-B09B-4722-AD74-DBBD9F89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34450-99AC-46E4-8872-66A577EB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2053661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C3D69-B143-49E3-B2AB-503C3CD0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8670F-10D0-48A3-B061-D7CF5AA8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Ethics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1AE3F-8A97-4C7F-908C-CA21C10D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432DD-B94B-4A82-9CB9-36B89924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947BE-E499-4E7C-8CC0-80B34EED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Evaluate legal access, privacy, surveillance, public benefit, uncertainty and equity in a location-data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D3B23-30F8-488E-9D03-D0822CBA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22AA5-966E-4975-8886-226AA9FA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48C66-1E2A-47D9-973F-73158791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33983-251A-44F3-B0DE-61A1416A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70AE6-39FE-479B-BD3F-330A8B9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2050798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7F8BD-ADD5-4FF9-9E1C-5A64EF4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D2C4E-D0BE-4B83-8F59-453BCD5D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Capstone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C11E3-2172-4F7F-AAF1-F541120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44DF9-47ED-444C-BA0C-E65FC111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8A167-B739-4245-BEC2-74F3C64F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Defend data, method, system, visualization, governance and validation choices for an unfamiliar domain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06855-D2B3-4F85-8C1B-CDF1C045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E4CE9-AE70-429F-9822-E112F20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FC3AA-B9F6-4B6A-AFD1-62383809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5AA01-B1DC-48EC-9E8F-CE64820E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97E26-7CFB-4B63-BDB2-3239BEA1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764456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8BEE9-7499-43EC-AA8F-80E8DCD2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6F15A-B0C4-4146-B1E3-09C719D2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Readiness conference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84193-01F6-4BF0-B36F-C73A0D0A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31CCA-2374-4B16-803D-2A641FE9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4260D-835D-4F53-ADD7-4540DBA2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Use exam evidence to name three priority gaps and build a one-week remediation schedule.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0AD0C-FFC2-496A-A1C9-15D27803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D9D5D-DAAB-4841-A435-63E40D28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B4A14-5E6A-4942-B303-CBEC8C5E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09310-30FF-4EB1-B8BC-7ACE6165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0DFCD-1AD6-4BA4-9F1B-39BF130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524765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AD7DF-09D6-4EE4-9225-4E549407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007B4-2847-4506-B97E-21C0F7B7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Misconceptions worth challenging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5E0B8-8FD5-4CCF-826C-08E2B875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C29DE-3BE0-453F-8A66-00349028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0BF74-C0FD-4B75-898B-9F268DC7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Professional practice is separate from technical GIS competence.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Legal access to data automatically makes every use ethical.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Organizational problems can be solved solely by better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A workflow that works in one domain transfers unchanged to another.</a:t>
            </a:r>
          </a:p>
        </p:txBody>
      </p:sp>
    </p:spTree>
    <p:extLst>
      <p:ext uri="{BB962C8B-B14F-4D97-AF65-F5344CB8AC3E}">
        <p14:creationId xmlns:p14="http://schemas.microsoft.com/office/powerpoint/2010/main" val="6124774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BABAE-E9E2-4E73-A31D-873F89B2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3A45C-7B22-4E22-BDA3-D2D6734B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Independent mastery requires more than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7B1DA-E44E-4038-9EFE-07032A7B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5E27C-A6DA-47BF-94D5-3BEA8441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EA6B4-BF27-4C0D-8D61-4674EF86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Evidence of mastery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7D959-44A9-48DE-8385-A119ECB2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the concept in plain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and justify it in a new scenario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Interpret output in geographic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32FF5-741E-4135-89A0-2D68790C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AA3A4-FA92-42AF-8411-222F6FF6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Quality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527FE-8FD1-446C-84A9-0267FEEE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an inappropriate 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a limitation or assumption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Design a validation strategy</a:t>
            </a:r>
          </a:p>
        </p:txBody>
      </p:sp>
    </p:spTree>
    <p:extLst>
      <p:ext uri="{BB962C8B-B14F-4D97-AF65-F5344CB8AC3E}">
        <p14:creationId xmlns:p14="http://schemas.microsoft.com/office/powerpoint/2010/main" val="164257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AF7FD-2A6C-4504-A4A8-AEF6DCEC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F17B6-3826-42AB-B383-62781C2C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Turn remaining gaps into a short action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3366E-9F1C-415D-BA56-26316AFF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5F0E6-16EE-43D3-8441-2F62DE77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24318-8669-458D-B8AD-90FA2184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Re-rate each assigned competency from 0–3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Review missed-item explanations and linked Book of Knowledge topics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Complete the matching workshop practice and ESRI 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Retest with mixed questions 48–72 hours later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Record evidence of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48BE3-5172-4D89-856F-656B3F20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Source: GISP-E Chronological Six-Workshop Program, Bucknell University, Fall 2026</a:t>
            </a:r>
          </a:p>
        </p:txBody>
      </p:sp>
    </p:spTree>
    <p:extLst>
      <p:ext uri="{BB962C8B-B14F-4D97-AF65-F5344CB8AC3E}">
        <p14:creationId xmlns:p14="http://schemas.microsoft.com/office/powerpoint/2010/main" val="1394458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2026-08-27T13:29:57.8410000Z</dcterms:created>
  <dcterms:modified xsi:type="dcterms:W3CDTF">2026-08-27T13:29:57.8410000Z</dcterms:modified>
</coreProperties>
</file>