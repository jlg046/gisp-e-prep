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d23e0621df4020" /><Relationship Type="http://schemas.openxmlformats.org/officeDocument/2006/relationships/extended-properties" Target="/docProps/app.xml" Id="R8d19653dcb264fc4" /><Relationship Type="http://schemas.openxmlformats.org/officeDocument/2006/relationships/officeDocument" Target="/ppt/presentation.xml" Id="R0aa41a2df00748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87bbaa6c784fcd"/>
  </p:sldMasterIdLst>
  <p:notesMasterIdLst>
    <p:notesMasterId xmlns:r="http://schemas.openxmlformats.org/officeDocument/2006/relationships" r:id="R075e8cbb5fa5407e"/>
  </p:notesMasterIdLst>
  <p:sldIdLst>
    <p:sldId xmlns:r="http://schemas.openxmlformats.org/officeDocument/2006/relationships" id="256" r:id="R6a6881b85bcb408f"/>
    <p:sldId xmlns:r="http://schemas.openxmlformats.org/officeDocument/2006/relationships" id="257" r:id="R8e7fbb423e634172"/>
    <p:sldId xmlns:r="http://schemas.openxmlformats.org/officeDocument/2006/relationships" id="258" r:id="R35e36c9602744e8f"/>
    <p:sldId xmlns:r="http://schemas.openxmlformats.org/officeDocument/2006/relationships" id="259" r:id="R3af2451c180845a7"/>
    <p:sldId xmlns:r="http://schemas.openxmlformats.org/officeDocument/2006/relationships" id="260" r:id="R28e6630185644163"/>
    <p:sldId xmlns:r="http://schemas.openxmlformats.org/officeDocument/2006/relationships" id="261" r:id="Rf9ef77bd19624b5b"/>
    <p:sldId xmlns:r="http://schemas.openxmlformats.org/officeDocument/2006/relationships" id="262" r:id="R911d76446f7f4aff"/>
    <p:sldId xmlns:r="http://schemas.openxmlformats.org/officeDocument/2006/relationships" id="263" r:id="Rcca13a78e0a44189"/>
    <p:sldId xmlns:r="http://schemas.openxmlformats.org/officeDocument/2006/relationships" id="264" r:id="Rd92b5b867b404e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ff3b3d0b8e4340" /><Relationship Type="http://schemas.openxmlformats.org/officeDocument/2006/relationships/slideMaster" Target="/ppt/slideMasters/slideMaster1.xml" Id="Ra087bbaa6c784fcd" /><Relationship Type="http://schemas.openxmlformats.org/officeDocument/2006/relationships/notesMaster" Target="/ppt/notesMasters/notesMaster1.xml" Id="R075e8cbb5fa5407e" /><Relationship Type="http://schemas.openxmlformats.org/officeDocument/2006/relationships/presProps" Target="/ppt/presProps.xml" Id="Rab7777f036514886" /><Relationship Type="http://schemas.openxmlformats.org/officeDocument/2006/relationships/tableStyles" Target="/ppt/tableStyles.xml" Id="R700b6a9e67cd4fd7" /><Relationship Type="http://schemas.openxmlformats.org/officeDocument/2006/relationships/slide" Target="/ppt/slides/slide1.xml" Id="R6a6881b85bcb408f" /><Relationship Type="http://schemas.openxmlformats.org/officeDocument/2006/relationships/slide" Target="/ppt/slides/slide2.xml" Id="R8e7fbb423e634172" /><Relationship Type="http://schemas.openxmlformats.org/officeDocument/2006/relationships/slide" Target="/ppt/slides/slide3.xml" Id="R35e36c9602744e8f" /><Relationship Type="http://schemas.openxmlformats.org/officeDocument/2006/relationships/slide" Target="/ppt/slides/slide4.xml" Id="R3af2451c180845a7" /><Relationship Type="http://schemas.openxmlformats.org/officeDocument/2006/relationships/slide" Target="/ppt/slides/slide5.xml" Id="R28e6630185644163" /><Relationship Type="http://schemas.openxmlformats.org/officeDocument/2006/relationships/slide" Target="/ppt/slides/slide6.xml" Id="Rf9ef77bd19624b5b" /><Relationship Type="http://schemas.openxmlformats.org/officeDocument/2006/relationships/slide" Target="/ppt/slides/slide7.xml" Id="R911d76446f7f4aff" /><Relationship Type="http://schemas.openxmlformats.org/officeDocument/2006/relationships/slide" Target="/ppt/slides/slide8.xml" Id="Rcca13a78e0a44189" /><Relationship Type="http://schemas.openxmlformats.org/officeDocument/2006/relationships/slide" Target="/ppt/slides/slide9.xml" Id="Rd92b5b867b404e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43d2acc60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67016641448f5" /><Relationship Type="http://schemas.openxmlformats.org/officeDocument/2006/relationships/notesMaster" Target="/ppt/notesMasters/notesMaster1.xml" Id="R24faf37d4d3f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9fb97d9a524ac9" /><Relationship Type="http://schemas.openxmlformats.org/officeDocument/2006/relationships/notesMaster" Target="/ppt/notesMasters/notesMaster1.xml" Id="R876e65415ae24d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c7c94b35294d1f" /><Relationship Type="http://schemas.openxmlformats.org/officeDocument/2006/relationships/notesMaster" Target="/ppt/notesMasters/notesMaster1.xml" Id="R3e909ab273ab40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9c050b39034324" /><Relationship Type="http://schemas.openxmlformats.org/officeDocument/2006/relationships/notesMaster" Target="/ppt/notesMasters/notesMaster1.xml" Id="Re2d7556c96a5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4d84da78284f27" /><Relationship Type="http://schemas.openxmlformats.org/officeDocument/2006/relationships/notesMaster" Target="/ppt/notesMasters/notesMaster1.xml" Id="Rfdda77f31205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46d834aef14999" /><Relationship Type="http://schemas.openxmlformats.org/officeDocument/2006/relationships/notesMaster" Target="/ppt/notesMasters/notesMaster1.xml" Id="R97c13d6c2df347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7d263a69004ea0" /><Relationship Type="http://schemas.openxmlformats.org/officeDocument/2006/relationships/notesMaster" Target="/ppt/notesMasters/notesMaster1.xml" Id="R9609c5fc5a3849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f40bfc7614555" /><Relationship Type="http://schemas.openxmlformats.org/officeDocument/2006/relationships/notesMaster" Target="/ppt/notesMasters/notesMaster1.xml" Id="Rd1b51a37ba78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a29e5494594680" /><Relationship Type="http://schemas.openxmlformats.org/officeDocument/2006/relationships/notesMaster" Target="/ppt/notesMasters/notesMaster1.xml" Id="Red13fa08141e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11e34b78646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beb3cc72324264" /><Relationship Type="http://schemas.openxmlformats.org/officeDocument/2006/relationships/slideLayout" Target="/ppt/slideLayouts/slideLayout1.xml" Id="R55eb5d47d8eb4e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b5d47d8eb4e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23e0c263342e6" /><Relationship Type="http://schemas.openxmlformats.org/officeDocument/2006/relationships/notesSlide" Target="/ppt/notesSlides/notesSlide1.xml" Id="R6ca29beba487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666de78954b29" /><Relationship Type="http://schemas.openxmlformats.org/officeDocument/2006/relationships/notesSlide" Target="/ppt/notesSlides/notesSlide2.xml" Id="R57209f0b403d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97b39fcf74d47" /><Relationship Type="http://schemas.openxmlformats.org/officeDocument/2006/relationships/notesSlide" Target="/ppt/notesSlides/notesSlide3.xml" Id="Ra3cd6f7db39942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d976d48784e99" /><Relationship Type="http://schemas.openxmlformats.org/officeDocument/2006/relationships/notesSlide" Target="/ppt/notesSlides/notesSlide4.xml" Id="Rfd4086c6b4ce46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6b48ff60c4c83" /><Relationship Type="http://schemas.openxmlformats.org/officeDocument/2006/relationships/notesSlide" Target="/ppt/notesSlides/notesSlide5.xml" Id="Rd0e37eab1f9140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7edffb43b4a2b" /><Relationship Type="http://schemas.openxmlformats.org/officeDocument/2006/relationships/notesSlide" Target="/ppt/notesSlides/notesSlide6.xml" Id="R8bc748a9bcd04c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11fd1514c4265" /><Relationship Type="http://schemas.openxmlformats.org/officeDocument/2006/relationships/notesSlide" Target="/ppt/notesSlides/notesSlide7.xml" Id="R631c4667587c42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0e0f365ed405b" /><Relationship Type="http://schemas.openxmlformats.org/officeDocument/2006/relationships/notesSlide" Target="/ppt/notesSlides/notesSlide8.xml" Id="Rb2e661d7dc8742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810ad981b24c93" /><Relationship Type="http://schemas.openxmlformats.org/officeDocument/2006/relationships/notesSlide" Target="/ppt/notesSlides/notesSlide9.xml" Id="Rc5fbd93d7edf41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BFD34-912C-4340-AD08-0D3A65CC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722"/>
                </a:solidFill>
              </a:defRPr>
            </a:pPr>
            <a:r>
              <a:rPr sz="1350" b="1">
                <a:solidFill>
                  <a:srgbClr val="E87722"/>
                </a:solidFill>
              </a:rPr>
              <a:t>WEEKLY REVIEW SESSION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B67F5-7A92-4A14-8852-B3945969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Chapter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D5565-EF4F-454F-95C4-48E9AAA2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Facilitating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2784B-BA0F-4FF9-8FAF-98236473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9D6"/>
                </a:solidFill>
              </a:defRPr>
            </a:pPr>
            <a:r>
              <a:rPr sz="1650" b="0">
                <a:solidFill>
                  <a:srgbClr val="D9D9D6"/>
                </a:solidFill>
              </a:rPr>
              <a:t>Oct 4–10 • Textbook + ESRI training + GIS Book of Knowledge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A759D-B7C8-448B-84E1-68E0CAA3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7722"/>
                </a:solidFill>
              </a:defRPr>
            </a:pPr>
            <a:r>
              <a:rPr sz="1950" b="1">
                <a:solidFill>
                  <a:srgbClr val="E87722"/>
                </a:solidFill>
              </a:rPr>
              <a:t>Arrive ready to explain decisions—not just reproduce clicks.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22903-5DEC-4B3A-AB21-3FD94F9B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1344631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6553F-D40B-4C43-9599-DB859FEE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CHAPTER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8383B-5E52-4F1C-B40E-CAD8A25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Connect the chapter exercises to transferable GIS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58611-390F-4B9D-B77A-B7430E04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E31EF-044F-4E76-AFC7-79C0BECD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Complete Chapter 5: Facilitating workflows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Debrief the assigned exercises and compare workflow choices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Translate ArcGIS Pro procedures into software-agnostic GIS concepts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• Name assumptions, validation checks and fitness-for-use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055BC-52AC-4D82-AC4E-6DC1802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1713129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19537-6039-40B4-8C1D-F0A08B12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COVERAGE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95DB7-0021-413F-874E-FDC5C429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maximum pathway closes what the textbook cannot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A599B-ACF4-4AAD-985A-B608A2EB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7D7CB-9C89-4D36-AEED-D6E89BD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21863-A111-49B8-91A4-7D9CF902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A2789-C65F-49D2-A421-F3A3DA58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BoK topics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C8380-FD10-457D-B4AB-CB6FE0F7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9545B-868A-412F-9D88-E03EC19E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F66FB-AB13-497C-9F3A-2CE3485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Direct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A618E-3DD5-4FC3-A555-386B00A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B84C29-80FF-496B-A06B-1C99E50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79FDE-8C9C-4C68-BA18-511F0EAD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Partial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EA07E-6C89-43A4-A25B-494B04E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50489-FED4-4C02-BEF4-DB1A7341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E87722"/>
                </a:solidFill>
              </a:defRPr>
            </a:pPr>
            <a:r>
              <a:rPr sz="3300" b="1">
                <a:solidFill>
                  <a:srgbClr val="E8772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DCB54-EF8B-4953-9AEC-D020968D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Supplement-only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4EA35-F0F8-4040-B105-C9B117A8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1905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8AEF3-B2BB-462F-8049-03460746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3865"/>
                </a:solidFill>
              </a:defRPr>
            </a:pPr>
            <a:r>
              <a:rPr sz="3300" b="1">
                <a:solidFill>
                  <a:srgbClr val="003865"/>
                </a:solidFill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58344-A91D-4DB8-81AD-F50516B5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908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ESRI courses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FDE4F-C4E0-475F-AFF2-382718E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Complete every assigned BoK reading; use all aligned ESRI courses when following the maximum pathway.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2DB32-752E-48E2-A54F-1E14E8E4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1261031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FCB8F-CBC1-4511-8D3B-63E81C56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B6B5E-546C-49E1-AEDE-E253E6F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ESRI training to reinforce applied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74950-BDD2-439D-9E9E-912ABD6E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843A4-F535-426D-8F7B-E93FAF6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AI in ArcGIS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Building Geoprocessing Models Using ArcGIS Pro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Python for Everyone (Advanced/Focused Trainings)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Querying Data Using ArcGIS Pro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Getting Started with Data Management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Introduction to Spatial Data (Core Pathway)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Creating and Sharing GIS Content Using ArcGIS Online (Advanced/Focused Trainings)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D4774-B4C4-4A26-BD74-530D5BF8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532836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97E1A-A4A9-4992-A3E2-B17954E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ESRI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CB2B1-3102-4B7F-A43E-9145280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Continue the Chapter 5 ESRI pathway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39B46-7764-443A-B346-2599BA96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99B13-8A98-4581-9128-3EB7113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</a:defRPr>
            </a:pPr>
            <a:r>
              <a:rPr sz="1575" b="0">
                <a:solidFill>
                  <a:srgbClr val="17324D"/>
                </a:solidFill>
              </a:rPr>
              <a:t>• ArcGIS Online Basics (Core Pathway)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EA8F2-1387-4D9E-8DDD-E4A0189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427691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3E922-9BDB-4A4E-ACC3-123924A4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GIS BOOK OF KNOWLEDGE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52740-8FA1-47A7-AAB0-F7A395AF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Use the BoK to supply theory, breadth and missing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2FF9E-4940-4B1D-8578-F6459BB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49D08-FF11-4104-9A25-76D58258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Design of Systems: 22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Analytical Methods &amp; GeoComputation: 6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Web-Based GIS: 3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Data Modeling: 1 topics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• Conceptual Foundations: 1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DC45F-1B92-4538-A521-9116B626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Partial and supplement-only topics require focused BoK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57154-7DC1-402F-8A68-F50C0241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960393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B4BAC-97D4-4FA7-8B2E-4C4FC024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RETRIEVAL PROMPTS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87E45-9150-4D70-B5CD-D826A63C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Explain the concept before naming the tool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68F82-89ED-4B37-AE0B-3C9BBADB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9607B-5C89-4872-B9D1-F38AE0DA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Compare a task, geoprocessing model and Python script as mechanisms for a repeatable workflow.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Identify the inputs, outputs, parameters, dependencies and validation checks in an automated GIS process.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</a:defRPr>
            </a:pPr>
            <a:r>
              <a:rPr sz="1725" b="0">
                <a:solidFill>
                  <a:srgbClr val="17324D"/>
                </a:solidFill>
              </a:rPr>
              <a:t>• What makes an automated workflow reproducible but still analytically wrong?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472D2-3613-4FCF-83B5-4206998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1609443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EEA17-B39D-47B8-8F75-158AA2A8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722"/>
                </a:solidFill>
              </a:defRPr>
            </a:pPr>
            <a:r>
              <a:rPr sz="1200" b="1">
                <a:solidFill>
                  <a:srgbClr val="E87722"/>
                </a:solidFill>
              </a:rPr>
              <a:t>INTEGRATED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F8A4F-0BAD-443A-BF30-2D95173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Build and defend a complete GIS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59E12-240C-4FDF-A262-EB06482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52FF9-D744-4847-A04A-D80B51D5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</a:defRPr>
            </a:pPr>
            <a:r>
              <a:rPr sz="1800" b="0">
                <a:solidFill>
                  <a:srgbClr val="17324D"/>
                </a:solidFill>
              </a:rPr>
              <a:t>A monthly hazard workflow is performed manually. Design a repeatable task/model/script strategy and identify validation checkpoints.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3DA2C-F3B3-469D-B727-BAA5168E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State the question • choose data and methods • expose assumptions • validate • communicate limits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7FC4C-21C6-474A-A3DC-0B61FAFC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16540969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7C5AE-6C68-4227-AB6C-932A819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722"/>
                </a:solidFill>
              </a:defRPr>
            </a:pPr>
            <a:r>
              <a:rPr sz="1125" b="1">
                <a:solidFill>
                  <a:srgbClr val="E87722"/>
                </a:solidFill>
              </a:rPr>
              <a:t>EXIT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0AC8A-F931-45EB-91F8-CF32C21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Leave with a specific remediation commitment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400ED-436E-41A1-A910-E29BD151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AD611-8F90-45EA-999D-E195FD8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10287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concept you can now explain without software-specific language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misconception you corrected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BoK topic or ESRI course you still need</a:t>
            </a:r>
          </a:p>
          <a:p xmlns:a="http://schemas.openxmlformats.org/drawingml/2006/main">
            <a:pPr algn="l">
              <a:defRPr sz="1875" b="0">
                <a:solidFill>
                  <a:srgbClr val="17324D"/>
                </a:solidFill>
              </a:defRPr>
            </a:pPr>
            <a:r>
              <a:rPr sz="1875" b="0">
                <a:solidFill>
                  <a:srgbClr val="17324D"/>
                </a:solidFill>
              </a:rPr>
              <a:t>• One practice-test domain you will target next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406CA-5BBC-4728-BD05-36F1244A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87722"/>
                </a:solidFill>
              </a:defRPr>
            </a:pPr>
            <a:r>
              <a:rPr sz="1875" b="1">
                <a:solidFill>
                  <a:srgbClr val="E87722"/>
                </a:solidFill>
              </a:rPr>
              <a:t>Mastery means transferring the reasoning to a new scenario.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FEC4D-4926-4E8A-A89E-D7477B0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A8AA"/>
                </a:solidFill>
              </a:defRPr>
            </a:pPr>
            <a:r>
              <a:rPr sz="825" b="0">
                <a:solidFill>
                  <a:srgbClr val="A7A8AA"/>
                </a:solidFill>
              </a:rPr>
              <a:t>Bucknell GISP-E / PreGISP • Chapter 5 review</a:t>
            </a:r>
          </a:p>
        </p:txBody>
      </p:sp>
    </p:spTree>
    <p:extLst>
      <p:ext uri="{BB962C8B-B14F-4D97-AF65-F5344CB8AC3E}">
        <p14:creationId xmlns:p14="http://schemas.microsoft.com/office/powerpoint/2010/main" val="1076679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2026-08-27T18:58:27.4510000Z</dcterms:created>
  <dcterms:modified xsi:type="dcterms:W3CDTF">2026-08-27T18:58:27.4510000Z</dcterms:modified>
</coreProperties>
</file>