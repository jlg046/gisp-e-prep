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1f63df97cc42f2" /><Relationship Type="http://schemas.openxmlformats.org/officeDocument/2006/relationships/extended-properties" Target="/docProps/app.xml" Id="R3e62d8e65bae438b" /><Relationship Type="http://schemas.openxmlformats.org/officeDocument/2006/relationships/officeDocument" Target="/ppt/presentation.xml" Id="R60f76a3d81194b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642abf5174422d"/>
  </p:sldMasterIdLst>
  <p:notesMasterIdLst>
    <p:notesMasterId xmlns:r="http://schemas.openxmlformats.org/officeDocument/2006/relationships" r:id="R73b80dc792444895"/>
  </p:notesMasterIdLst>
  <p:sldIdLst>
    <p:sldId xmlns:r="http://schemas.openxmlformats.org/officeDocument/2006/relationships" id="256" r:id="Rf96ee0f5e2a5497a"/>
    <p:sldId xmlns:r="http://schemas.openxmlformats.org/officeDocument/2006/relationships" id="257" r:id="R193494157cd2456d"/>
    <p:sldId xmlns:r="http://schemas.openxmlformats.org/officeDocument/2006/relationships" id="258" r:id="Rff266864f6104b9c"/>
    <p:sldId xmlns:r="http://schemas.openxmlformats.org/officeDocument/2006/relationships" id="259" r:id="Ra281921425a94ab4"/>
    <p:sldId xmlns:r="http://schemas.openxmlformats.org/officeDocument/2006/relationships" id="260" r:id="R0e55de710148498b"/>
    <p:sldId xmlns:r="http://schemas.openxmlformats.org/officeDocument/2006/relationships" id="261" r:id="R61c4426a691a46cc"/>
    <p:sldId xmlns:r="http://schemas.openxmlformats.org/officeDocument/2006/relationships" id="262" r:id="R84c54072c23a4fc7"/>
    <p:sldId xmlns:r="http://schemas.openxmlformats.org/officeDocument/2006/relationships" id="263" r:id="R64450a7193914d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d2e5b655bc4b45" /><Relationship Type="http://schemas.openxmlformats.org/officeDocument/2006/relationships/slideMaster" Target="/ppt/slideMasters/slideMaster1.xml" Id="R32642abf5174422d" /><Relationship Type="http://schemas.openxmlformats.org/officeDocument/2006/relationships/notesMaster" Target="/ppt/notesMasters/notesMaster1.xml" Id="R73b80dc792444895" /><Relationship Type="http://schemas.openxmlformats.org/officeDocument/2006/relationships/presProps" Target="/ppt/presProps.xml" Id="R4705f36ec14d4e10" /><Relationship Type="http://schemas.openxmlformats.org/officeDocument/2006/relationships/tableStyles" Target="/ppt/tableStyles.xml" Id="R4d6f243bdb7047bc" /><Relationship Type="http://schemas.openxmlformats.org/officeDocument/2006/relationships/slide" Target="/ppt/slides/slide1.xml" Id="Rf96ee0f5e2a5497a" /><Relationship Type="http://schemas.openxmlformats.org/officeDocument/2006/relationships/slide" Target="/ppt/slides/slide2.xml" Id="R193494157cd2456d" /><Relationship Type="http://schemas.openxmlformats.org/officeDocument/2006/relationships/slide" Target="/ppt/slides/slide3.xml" Id="Rff266864f6104b9c" /><Relationship Type="http://schemas.openxmlformats.org/officeDocument/2006/relationships/slide" Target="/ppt/slides/slide4.xml" Id="Ra281921425a94ab4" /><Relationship Type="http://schemas.openxmlformats.org/officeDocument/2006/relationships/slide" Target="/ppt/slides/slide5.xml" Id="R0e55de710148498b" /><Relationship Type="http://schemas.openxmlformats.org/officeDocument/2006/relationships/slide" Target="/ppt/slides/slide6.xml" Id="R61c4426a691a46cc" /><Relationship Type="http://schemas.openxmlformats.org/officeDocument/2006/relationships/slide" Target="/ppt/slides/slide7.xml" Id="R84c54072c23a4fc7" /><Relationship Type="http://schemas.openxmlformats.org/officeDocument/2006/relationships/slide" Target="/ppt/slides/slide8.xml" Id="R64450a7193914d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43cef448344b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22e8d4405143b9" /><Relationship Type="http://schemas.openxmlformats.org/officeDocument/2006/relationships/notesMaster" Target="/ppt/notesMasters/notesMaster1.xml" Id="R3ee1d8eee7d540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009c390b724992" /><Relationship Type="http://schemas.openxmlformats.org/officeDocument/2006/relationships/notesMaster" Target="/ppt/notesMasters/notesMaster1.xml" Id="R0468385b11624c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583b09af2845bb" /><Relationship Type="http://schemas.openxmlformats.org/officeDocument/2006/relationships/notesMaster" Target="/ppt/notesMasters/notesMaster1.xml" Id="Rab7a5d22988347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f188a6ac8e4af5" /><Relationship Type="http://schemas.openxmlformats.org/officeDocument/2006/relationships/notesMaster" Target="/ppt/notesMasters/notesMaster1.xml" Id="R4cbb5ea3287140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ff3db609164c46" /><Relationship Type="http://schemas.openxmlformats.org/officeDocument/2006/relationships/notesMaster" Target="/ppt/notesMasters/notesMaster1.xml" Id="R147d0c4fb14b42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3f67b89c594a47" /><Relationship Type="http://schemas.openxmlformats.org/officeDocument/2006/relationships/notesMaster" Target="/ppt/notesMasters/notesMaster1.xml" Id="R9ec2671d01704e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751caf80d64151" /><Relationship Type="http://schemas.openxmlformats.org/officeDocument/2006/relationships/notesMaster" Target="/ppt/notesMasters/notesMaster1.xml" Id="R9efb13b03fd24a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9e339290754db1" /><Relationship Type="http://schemas.openxmlformats.org/officeDocument/2006/relationships/notesMaster" Target="/ppt/notesMasters/notesMaster1.xml" Id="R1db547ebd9614c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e172107f041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1edc1434b94a00" /><Relationship Type="http://schemas.openxmlformats.org/officeDocument/2006/relationships/slideLayout" Target="/ppt/slideLayouts/slideLayout1.xml" Id="R733976bf79824e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3976bf79824e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2fd59141a426b" /><Relationship Type="http://schemas.openxmlformats.org/officeDocument/2006/relationships/notesSlide" Target="/ppt/notesSlides/notesSlide1.xml" Id="Rccec7ed127b54e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0bf86f0fd4232" /><Relationship Type="http://schemas.openxmlformats.org/officeDocument/2006/relationships/notesSlide" Target="/ppt/notesSlides/notesSlide2.xml" Id="Rb4e9cdfcac2942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949c2cb014a5b" /><Relationship Type="http://schemas.openxmlformats.org/officeDocument/2006/relationships/notesSlide" Target="/ppt/notesSlides/notesSlide3.xml" Id="R6d45aa4c92bc49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cf15efc01423b" /><Relationship Type="http://schemas.openxmlformats.org/officeDocument/2006/relationships/notesSlide" Target="/ppt/notesSlides/notesSlide4.xml" Id="Ref92e02cc7794f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4a2ab406c4072" /><Relationship Type="http://schemas.openxmlformats.org/officeDocument/2006/relationships/notesSlide" Target="/ppt/notesSlides/notesSlide5.xml" Id="R4d6be4c47dea42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c480f1b0648ae" /><Relationship Type="http://schemas.openxmlformats.org/officeDocument/2006/relationships/notesSlide" Target="/ppt/notesSlides/notesSlide6.xml" Id="Reabb5c4bf0e14b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7ceabbb2f4f99" /><Relationship Type="http://schemas.openxmlformats.org/officeDocument/2006/relationships/notesSlide" Target="/ppt/notesSlides/notesSlide7.xml" Id="R15249432e2e140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648ef09e248b9" /><Relationship Type="http://schemas.openxmlformats.org/officeDocument/2006/relationships/notesSlide" Target="/ppt/notesSlides/notesSlide8.xml" Id="Rdc49d5964f8f45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6C107-10E2-4B1D-8F52-6EB78C24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722"/>
                </a:solidFill>
              </a:defRPr>
            </a:pPr>
            <a:r>
              <a:rPr sz="1350" b="1">
                <a:solidFill>
                  <a:srgbClr val="E87722"/>
                </a:solidFill>
              </a:rPr>
              <a:t>WEEKLY REVIEW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66208-CF18-4346-B64E-3500A745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Chapter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DF799-A132-47AA-8FC0-C9B88653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Geoenabling your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B28B3-2948-49B5-8DF2-A5190B7A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9D6"/>
                </a:solidFill>
              </a:defRPr>
            </a:pPr>
            <a:r>
              <a:rPr sz="1650" b="0">
                <a:solidFill>
                  <a:srgbClr val="D9D9D6"/>
                </a:solidFill>
              </a:rPr>
              <a:t>Oct 11–17 • Textbook + ESRI training + GIS Book of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28B61-7A9D-482A-8DE8-F4ED55B6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7722"/>
                </a:solidFill>
              </a:defRPr>
            </a:pPr>
            <a:r>
              <a:rPr sz="1950" b="1">
                <a:solidFill>
                  <a:srgbClr val="E87722"/>
                </a:solidFill>
              </a:rPr>
              <a:t>Arrive ready to explain decisions—not just reproduce clicks.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06D30-628E-46DE-A2B1-86E6C829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6 review</a:t>
            </a:r>
          </a:p>
        </p:txBody>
      </p:sp>
    </p:spTree>
    <p:extLst>
      <p:ext uri="{BB962C8B-B14F-4D97-AF65-F5344CB8AC3E}">
        <p14:creationId xmlns:p14="http://schemas.microsoft.com/office/powerpoint/2010/main" val="477601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00BD0-523B-4B40-ADD2-86F3E4AE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CHAPTER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14C0B-A3ED-424D-828B-6700F1E0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Connect the chapter exercises to transferable GIS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98057-125C-4466-B27E-233FC55D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FDF45-E398-49C2-9625-70610D2C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Complete Chapter 6: Geoenabling your project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Debrief the assigned exercises and compare workflow choices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Translate ArcGIS Pro procedures into software-agnostic GIS concepts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Name assumptions, validation checks and fitness-for-use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6D5CC-667B-4D64-B8AE-C25F1B6B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6 review</a:t>
            </a:r>
          </a:p>
        </p:txBody>
      </p:sp>
    </p:spTree>
    <p:extLst>
      <p:ext uri="{BB962C8B-B14F-4D97-AF65-F5344CB8AC3E}">
        <p14:creationId xmlns:p14="http://schemas.microsoft.com/office/powerpoint/2010/main" val="1528687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7364D-693A-46B9-8CD1-EC2E14FF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COVERAGE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E5055-6F0D-4C74-B64A-039AA0BE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maximum pathway closes what the textbook cannot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847CC-4631-47B8-8044-15CF106E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99D22-B5E8-4F9A-A5D1-BBFFBAA2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AACEF-D829-40FC-81FC-8E067E2C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51000-0300-465A-A922-0C1C780E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BoK topics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A1FDA-3766-4765-A352-CE92EA4B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ACC07-26D7-4865-9B6B-B5DFAF72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7ACDF-97D4-4A92-BD40-E8C5399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8ED4D-34AB-4BEA-B4CB-7523C706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225B3-EF07-410B-BFB6-F019C420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B859D-63E5-4500-8F66-95DD81FD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D1009-F526-4F6C-88FF-B2A424C4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280CA-A907-466A-A1E4-5E1A9CA1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87722"/>
                </a:solidFill>
              </a:defRPr>
            </a:pPr>
            <a:r>
              <a:rPr sz="3300" b="1">
                <a:solidFill>
                  <a:srgbClr val="E87722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DD35F-4D72-4F70-ACAC-3B091A6B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Supplement-only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D61A1-55EB-479F-B148-12798C89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71C26-BFBD-4FCB-A7BE-A896EAF7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C956F-708E-43B8-B113-7CCF2202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ESRI courses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CDEA7-1370-4A11-B83B-E5005A0A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Complete every assigned BoK reading; use all aligned ESRI courses when following the maximum pathway.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27B4F-37DB-4764-834A-F79FA9BC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6 review</a:t>
            </a:r>
          </a:p>
        </p:txBody>
      </p:sp>
    </p:spTree>
    <p:extLst>
      <p:ext uri="{BB962C8B-B14F-4D97-AF65-F5344CB8AC3E}">
        <p14:creationId xmlns:p14="http://schemas.microsoft.com/office/powerpoint/2010/main" val="1346104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66821-726B-41CA-A5EA-08A35A53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40373-03A3-400D-9ADA-388BAEB9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ESRI training to reinforce applied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A06BC-23EF-489A-9D1C-B943FAC4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8C964-FE8D-4068-9439-AF7393D7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Spatial Analysis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Analysis and modeling in ArcGIS Pro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Understanding Spatial Relationships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Spatial Data (Core Pathway)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BEF88-AD58-4E69-BA14-1D2160A9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6 review</a:t>
            </a:r>
          </a:p>
        </p:txBody>
      </p:sp>
    </p:spTree>
    <p:extLst>
      <p:ext uri="{BB962C8B-B14F-4D97-AF65-F5344CB8AC3E}">
        <p14:creationId xmlns:p14="http://schemas.microsoft.com/office/powerpoint/2010/main" val="1352762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D69C2-1781-46FB-8643-C2842580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GIS BOOK OF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2CF40-CF5A-45FD-B2E6-28BC4E62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the BoK to supply theory, breadth and missing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3AD8A-6F54-4253-8224-EEB8DB54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48B7F-1B5A-4A5C-B356-1ACBABDC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Analytical Methods &amp; GeoComputation: 4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Conceptual Foundations: 1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E4CDF-4A48-46BF-B122-4C33D0CF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Partial and supplement-only topics require focused BoK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5283C-036F-4C20-A1D3-5B4AD67D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6 review</a:t>
            </a:r>
          </a:p>
        </p:txBody>
      </p:sp>
    </p:spTree>
    <p:extLst>
      <p:ext uri="{BB962C8B-B14F-4D97-AF65-F5344CB8AC3E}">
        <p14:creationId xmlns:p14="http://schemas.microsoft.com/office/powerpoint/2010/main" val="719787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CF88C-09CF-4E21-BCB5-C641FA46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RETRIEVAL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26551-451C-4105-A87A-58CDDE2F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Explain the concept before naming the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A386F-8FC9-4953-9653-7DD7BF46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9F223-B5F7-4314-8C8D-9C12C80E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Separate address standardization, matching, interpolation and candidate scoring in the geocoding process.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Choose vector operations for a location question and explain why order of operations matters.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How would you validate geocoding accuracy and communicate unmatched or low-confidence records?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A7343-F5FF-42F2-A528-035B4E79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6 review</a:t>
            </a:r>
          </a:p>
        </p:txBody>
      </p:sp>
    </p:spTree>
    <p:extLst>
      <p:ext uri="{BB962C8B-B14F-4D97-AF65-F5344CB8AC3E}">
        <p14:creationId xmlns:p14="http://schemas.microsoft.com/office/powerpoint/2010/main" val="1799153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74A45-AF9E-4F97-A5E8-12EC4D28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722"/>
                </a:solidFill>
              </a:defRPr>
            </a:pPr>
            <a:r>
              <a:rPr sz="1200" b="1">
                <a:solidFill>
                  <a:srgbClr val="E87722"/>
                </a:solidFill>
              </a:rPr>
              <a:t>INTEGRATED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39ED4-D609-4E02-B436-3B9587D3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Build and defend a complete GIS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BD27B-36D5-47F1-B45C-CE3B3FB6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F3BBA-5739-4DD3-B298-E6B06820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Emergency calls arrive as inconsistent addresses. Design the geocoding and vector-analysis workflow, including unmatched records and accuracy reporting.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0DBA9-FB59-4697-B635-6FEB61EF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State the question • choose data and methods • expose assumptions • validate • communicate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50D96-A6A7-40CC-918F-B2B7A4CB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6 review</a:t>
            </a:r>
          </a:p>
        </p:txBody>
      </p:sp>
    </p:spTree>
    <p:extLst>
      <p:ext uri="{BB962C8B-B14F-4D97-AF65-F5344CB8AC3E}">
        <p14:creationId xmlns:p14="http://schemas.microsoft.com/office/powerpoint/2010/main" val="17458857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AE9C6-A90B-4CD6-B8AD-0F4C8E23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EXIT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4AAED-9423-4F8E-8862-05665BE8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Leave with a specific remediation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5DDC7-702D-46FF-ADD4-34795F0F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D9E14-B121-491F-BBEF-B652A027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concept you can now explain without software-specific language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misconception you corrected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BoK topic or ESRI course you still need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practice-test domain you will target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EB43A-10E3-4F4C-8C0C-9CD4A906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7722"/>
                </a:solidFill>
              </a:defRPr>
            </a:pPr>
            <a:r>
              <a:rPr sz="1875" b="1">
                <a:solidFill>
                  <a:srgbClr val="E87722"/>
                </a:solidFill>
              </a:rPr>
              <a:t>Mastery means transferring the reasoning to a new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30575-1627-40DF-8455-F3E3231E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6 review</a:t>
            </a:r>
          </a:p>
        </p:txBody>
      </p:sp>
    </p:spTree>
    <p:extLst>
      <p:ext uri="{BB962C8B-B14F-4D97-AF65-F5344CB8AC3E}">
        <p14:creationId xmlns:p14="http://schemas.microsoft.com/office/powerpoint/2010/main" val="1721648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2026-08-27T18:58:27.5550000Z</dcterms:created>
  <dcterms:modified xsi:type="dcterms:W3CDTF">2026-08-27T18:58:27.5550000Z</dcterms:modified>
</coreProperties>
</file>