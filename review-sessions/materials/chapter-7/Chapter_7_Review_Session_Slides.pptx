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b3476c155142c9" /><Relationship Type="http://schemas.openxmlformats.org/officeDocument/2006/relationships/extended-properties" Target="/docProps/app.xml" Id="Rd16d94b6df3445a4" /><Relationship Type="http://schemas.openxmlformats.org/officeDocument/2006/relationships/officeDocument" Target="/ppt/presentation.xml" Id="R4a34f61c1c764f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f5b53b89894a9b"/>
  </p:sldMasterIdLst>
  <p:notesMasterIdLst>
    <p:notesMasterId xmlns:r="http://schemas.openxmlformats.org/officeDocument/2006/relationships" r:id="R9dea61df6a124dc4"/>
  </p:notesMasterIdLst>
  <p:sldIdLst>
    <p:sldId xmlns:r="http://schemas.openxmlformats.org/officeDocument/2006/relationships" id="256" r:id="Raba7c2a868374b03"/>
    <p:sldId xmlns:r="http://schemas.openxmlformats.org/officeDocument/2006/relationships" id="257" r:id="Rd6c3a040b2bf46e6"/>
    <p:sldId xmlns:r="http://schemas.openxmlformats.org/officeDocument/2006/relationships" id="258" r:id="R5859f29da81d46b1"/>
    <p:sldId xmlns:r="http://schemas.openxmlformats.org/officeDocument/2006/relationships" id="259" r:id="Re1600dfaac0d44dd"/>
    <p:sldId xmlns:r="http://schemas.openxmlformats.org/officeDocument/2006/relationships" id="260" r:id="Rc78ea4c7f739438c"/>
    <p:sldId xmlns:r="http://schemas.openxmlformats.org/officeDocument/2006/relationships" id="261" r:id="R8f0209ad2b32440a"/>
    <p:sldId xmlns:r="http://schemas.openxmlformats.org/officeDocument/2006/relationships" id="262" r:id="R55440c4a5abe4dd7"/>
    <p:sldId xmlns:r="http://schemas.openxmlformats.org/officeDocument/2006/relationships" id="263" r:id="R6ae6ae94e33241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19c88f10d64447" /><Relationship Type="http://schemas.openxmlformats.org/officeDocument/2006/relationships/slideMaster" Target="/ppt/slideMasters/slideMaster1.xml" Id="R98f5b53b89894a9b" /><Relationship Type="http://schemas.openxmlformats.org/officeDocument/2006/relationships/notesMaster" Target="/ppt/notesMasters/notesMaster1.xml" Id="R9dea61df6a124dc4" /><Relationship Type="http://schemas.openxmlformats.org/officeDocument/2006/relationships/presProps" Target="/ppt/presProps.xml" Id="Rda70484c289e4023" /><Relationship Type="http://schemas.openxmlformats.org/officeDocument/2006/relationships/tableStyles" Target="/ppt/tableStyles.xml" Id="Rdabc4604a91c409f" /><Relationship Type="http://schemas.openxmlformats.org/officeDocument/2006/relationships/slide" Target="/ppt/slides/slide1.xml" Id="Raba7c2a868374b03" /><Relationship Type="http://schemas.openxmlformats.org/officeDocument/2006/relationships/slide" Target="/ppt/slides/slide2.xml" Id="Rd6c3a040b2bf46e6" /><Relationship Type="http://schemas.openxmlformats.org/officeDocument/2006/relationships/slide" Target="/ppt/slides/slide3.xml" Id="R5859f29da81d46b1" /><Relationship Type="http://schemas.openxmlformats.org/officeDocument/2006/relationships/slide" Target="/ppt/slides/slide4.xml" Id="Re1600dfaac0d44dd" /><Relationship Type="http://schemas.openxmlformats.org/officeDocument/2006/relationships/slide" Target="/ppt/slides/slide5.xml" Id="Rc78ea4c7f739438c" /><Relationship Type="http://schemas.openxmlformats.org/officeDocument/2006/relationships/slide" Target="/ppt/slides/slide6.xml" Id="R8f0209ad2b32440a" /><Relationship Type="http://schemas.openxmlformats.org/officeDocument/2006/relationships/slide" Target="/ppt/slides/slide7.xml" Id="R55440c4a5abe4dd7" /><Relationship Type="http://schemas.openxmlformats.org/officeDocument/2006/relationships/slide" Target="/ppt/slides/slide8.xml" Id="R6ae6ae94e33241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53c1ffa73843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417a38eeb94098" /><Relationship Type="http://schemas.openxmlformats.org/officeDocument/2006/relationships/notesMaster" Target="/ppt/notesMasters/notesMaster1.xml" Id="Red9f36f843f44f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bba0cff99943a7" /><Relationship Type="http://schemas.openxmlformats.org/officeDocument/2006/relationships/notesMaster" Target="/ppt/notesMasters/notesMaster1.xml" Id="R5d99bf275bf444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c682bdaad84d44" /><Relationship Type="http://schemas.openxmlformats.org/officeDocument/2006/relationships/notesMaster" Target="/ppt/notesMasters/notesMaster1.xml" Id="Reca311df81e54c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0753d225d34f4f" /><Relationship Type="http://schemas.openxmlformats.org/officeDocument/2006/relationships/notesMaster" Target="/ppt/notesMasters/notesMaster1.xml" Id="R3d21913344964c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9084a2faf34932" /><Relationship Type="http://schemas.openxmlformats.org/officeDocument/2006/relationships/notesMaster" Target="/ppt/notesMasters/notesMaster1.xml" Id="Rf00bed9890ca4f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0a73876c464ebe" /><Relationship Type="http://schemas.openxmlformats.org/officeDocument/2006/relationships/notesMaster" Target="/ppt/notesMasters/notesMaster1.xml" Id="R98af09beeaec44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b5f9f7e54f4527" /><Relationship Type="http://schemas.openxmlformats.org/officeDocument/2006/relationships/notesMaster" Target="/ppt/notesMasters/notesMaster1.xml" Id="R200c847dac7842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d934543b2f4b51" /><Relationship Type="http://schemas.openxmlformats.org/officeDocument/2006/relationships/notesMaster" Target="/ppt/notesMasters/notesMaster1.xml" Id="Raa8d6bfff29a4d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338b3d4334f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c008d642954813" /><Relationship Type="http://schemas.openxmlformats.org/officeDocument/2006/relationships/slideLayout" Target="/ppt/slideLayouts/slideLayout1.xml" Id="Rcf8663e197cc46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8663e197cc46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70ef5049a48bb" /><Relationship Type="http://schemas.openxmlformats.org/officeDocument/2006/relationships/notesSlide" Target="/ppt/notesSlides/notesSlide1.xml" Id="Rde3978d0ed494c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5d44600be4caf" /><Relationship Type="http://schemas.openxmlformats.org/officeDocument/2006/relationships/notesSlide" Target="/ppt/notesSlides/notesSlide2.xml" Id="R80a34c222b6f47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12347e1d84238" /><Relationship Type="http://schemas.openxmlformats.org/officeDocument/2006/relationships/notesSlide" Target="/ppt/notesSlides/notesSlide3.xml" Id="R545fc725f7ce44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943f7b05846d8" /><Relationship Type="http://schemas.openxmlformats.org/officeDocument/2006/relationships/notesSlide" Target="/ppt/notesSlides/notesSlide4.xml" Id="Rbae93f8effdd49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c0ec659a04ff5" /><Relationship Type="http://schemas.openxmlformats.org/officeDocument/2006/relationships/notesSlide" Target="/ppt/notesSlides/notesSlide5.xml" Id="Re441da59209a4f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1535574394af4" /><Relationship Type="http://schemas.openxmlformats.org/officeDocument/2006/relationships/notesSlide" Target="/ppt/notesSlides/notesSlide6.xml" Id="Red60da3cb58741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3b66ece1347d0" /><Relationship Type="http://schemas.openxmlformats.org/officeDocument/2006/relationships/notesSlide" Target="/ppt/notesSlides/notesSlide7.xml" Id="Raf14b4dd964345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ddb6c8c214e4b" /><Relationship Type="http://schemas.openxmlformats.org/officeDocument/2006/relationships/notesSlide" Target="/ppt/notesSlides/notesSlide8.xml" Id="Ra2d88bf46a9249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C521A-B16F-4BD4-A2C4-6F2BAD52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722"/>
                </a:solidFill>
              </a:defRPr>
            </a:pPr>
            <a:r>
              <a:rPr sz="1350" b="1">
                <a:solidFill>
                  <a:srgbClr val="E87722"/>
                </a:solidFill>
              </a:rPr>
              <a:t>WEEKLY REVIEW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C8B67-20EF-48BE-8873-AAE0F3F6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Chapter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CFB7D-FCE8-44AE-8749-1E26B442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Analyzing spatial and temporal patterns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89490-9DCF-4A46-9DF3-BDFCB5CC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9D6"/>
                </a:solidFill>
              </a:defRPr>
            </a:pPr>
            <a:r>
              <a:rPr sz="1650" b="0">
                <a:solidFill>
                  <a:srgbClr val="D9D9D6"/>
                </a:solidFill>
              </a:rPr>
              <a:t>Oct 18–24 • Textbook + ESRI training + GIS Book of Knowledge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93521-74C2-4D24-96B5-D769C068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87722"/>
                </a:solidFill>
              </a:defRPr>
            </a:pPr>
            <a:r>
              <a:rPr sz="1950" b="1">
                <a:solidFill>
                  <a:srgbClr val="E87722"/>
                </a:solidFill>
              </a:rPr>
              <a:t>Arrive ready to explain decisions—not just reproduce clicks.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5B05B-857E-40E9-AED9-58FD66BA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7 review</a:t>
            </a:r>
          </a:p>
        </p:txBody>
      </p:sp>
    </p:spTree>
    <p:extLst>
      <p:ext uri="{BB962C8B-B14F-4D97-AF65-F5344CB8AC3E}">
        <p14:creationId xmlns:p14="http://schemas.microsoft.com/office/powerpoint/2010/main" val="206008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0BD64-B136-4FC7-A812-14381FF9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CHAPTER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C640F-654E-4CEE-A624-51A3DCF3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Connect the chapter exercises to transferable GIS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500E8-3713-4769-AB79-FB65A361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5EF10-182C-40EF-8947-C51184B2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Complete Chapter 7: Analyzing spatial and temporal patterns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Debrief the assigned exercises and compare workflow choices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Translate ArcGIS Pro procedures into software-agnostic GIS concepts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Name assumptions, validation checks and fitness-for-use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9535B-7BA6-41F7-B823-17A012FD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7 review</a:t>
            </a:r>
          </a:p>
        </p:txBody>
      </p:sp>
    </p:spTree>
    <p:extLst>
      <p:ext uri="{BB962C8B-B14F-4D97-AF65-F5344CB8AC3E}">
        <p14:creationId xmlns:p14="http://schemas.microsoft.com/office/powerpoint/2010/main" val="1275934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953AF-F8F5-461B-95BE-E8183626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COVERAGE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69E54-F47A-4350-AEAD-A111B0AE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The maximum pathway closes what the textbook cannot cover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C91E0-0407-438B-A396-19BF5293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54446-B02A-4497-9CDD-C2933482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97D9C-F68D-42A1-9391-73DB3DDC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D603B-7941-449F-9588-981A9268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BoK topics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0660C-1E7C-4737-A314-D131E8F5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35D0F-56F0-4846-8F6C-64D2F3DB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C418C-61BD-40CF-8860-3FF89BA5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Direct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E634C-73AB-4B60-BB24-0137EA2E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9BD83-75EB-47AB-9296-DE5FA1BA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93C2E-90EA-4AFA-9B7F-E1DFA206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Partial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BD185-D376-48EF-84DC-2CAB860F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8607E-1A67-4B91-9F6C-FC8DEAA7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87722"/>
                </a:solidFill>
              </a:defRPr>
            </a:pPr>
            <a:r>
              <a:rPr sz="3300" b="1">
                <a:solidFill>
                  <a:srgbClr val="E87722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46C11-5A92-4FF5-9231-6BE81659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Supplement-only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079BD-455E-47DC-9ACB-EA1C5648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225C6-C554-4560-8C9C-3ED095DC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129EF-0888-40E5-90C1-E4CE962D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ESRI courses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A01F4-72A4-48EF-AF39-92A94582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Complete every assigned BoK reading; use all aligned ESRI courses when following the maximum pathway.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211D88-3DB4-4F35-A47C-4B5A78E9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7 review</a:t>
            </a:r>
          </a:p>
        </p:txBody>
      </p:sp>
    </p:spTree>
    <p:extLst>
      <p:ext uri="{BB962C8B-B14F-4D97-AF65-F5344CB8AC3E}">
        <p14:creationId xmlns:p14="http://schemas.microsoft.com/office/powerpoint/2010/main" val="1568588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0551C-7D70-425D-B006-AF54226B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ESRI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F8B7A-EA59-441D-AC61-C6507B14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ESRI training to reinforce applied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BE71D-9E37-4990-96E3-C3C8DC0F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98AAC-68FB-4868-91B1-6A8D0C2A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Getting Started with Spatial Analysis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Building Geoprocessing Models Using ArcGIS Pro (Advanced/Focused Trainings)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Python for Everyone (Advanced/Focused Trainings)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Analysis and modeling in ArcGIS Pro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Introduction to Spatial Data (Core Pathway)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930D6-6AB1-4365-9864-5ED9415A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7 review</a:t>
            </a:r>
          </a:p>
        </p:txBody>
      </p:sp>
    </p:spTree>
    <p:extLst>
      <p:ext uri="{BB962C8B-B14F-4D97-AF65-F5344CB8AC3E}">
        <p14:creationId xmlns:p14="http://schemas.microsoft.com/office/powerpoint/2010/main" val="9089027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3E602-AFC7-486B-917F-C1E17150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GIS BOOK OF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91559-707B-4F19-80FB-0D19C3A9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the BoK to supply theory, breadth and missing topics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80C70-1D87-48AF-A9CF-A7F388BA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5FDD7-644B-4FE9-AE0F-167A5D07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Analytical Methods &amp; GeoComputation: 9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Conceptual Foundations: 1 topics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198E3-A626-4B21-B78B-49A2F360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722"/>
                </a:solidFill>
              </a:defRPr>
            </a:pPr>
            <a:r>
              <a:rPr sz="1500" b="1">
                <a:solidFill>
                  <a:srgbClr val="E87722"/>
                </a:solidFill>
              </a:rPr>
              <a:t>Partial and supplement-only topics require focused BoK study.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00E42-7585-466B-AF53-81AF7B8F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7 review</a:t>
            </a:r>
          </a:p>
        </p:txBody>
      </p:sp>
    </p:spTree>
    <p:extLst>
      <p:ext uri="{BB962C8B-B14F-4D97-AF65-F5344CB8AC3E}">
        <p14:creationId xmlns:p14="http://schemas.microsoft.com/office/powerpoint/2010/main" val="19918848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B33BE-55A5-4E68-AA71-EE4DBAAC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RETRIEVAL PROMPTS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7FD55-7813-4359-84CE-560A6CFD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Explain the concept before naming the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1769C-28C8-4310-A22E-98B637A6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1F857-9F69-4F51-B555-BE426372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Distinguish kernel density, global spatial autocorrelation and local hot spot analysis.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What null hypothesis and spatial conceptualization underlie a hot spot result?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How can time animation or 3D visualization reveal patterns while also encouraging overinterpretation?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D42CB-CAFF-4AEE-BC16-3BC6EDAE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7 review</a:t>
            </a:r>
          </a:p>
        </p:txBody>
      </p:sp>
    </p:spTree>
    <p:extLst>
      <p:ext uri="{BB962C8B-B14F-4D97-AF65-F5344CB8AC3E}">
        <p14:creationId xmlns:p14="http://schemas.microsoft.com/office/powerpoint/2010/main" val="6507795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A6A6C-C5B3-4B47-A179-F873CFAD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7722"/>
                </a:solidFill>
              </a:defRPr>
            </a:pPr>
            <a:r>
              <a:rPr sz="1200" b="1">
                <a:solidFill>
                  <a:srgbClr val="E87722"/>
                </a:solidFill>
              </a:rPr>
              <a:t>INTEGRATED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3E60B-55D7-476A-9708-317FD6F4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Build and defend a complete GIS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000EA-1DF1-4F7A-9EAD-DDCF4FAD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C856F-0616-48CD-8CA0-CFF191A0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Officials ask whether incidents form statistically significant clusters. Select a method, state assumptions and describe defensible interpretation.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24FB8-656C-431B-B357-F5743AD6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State the question • choose data and methods • expose assumptions • validate • communicate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B40AE-0620-4AE6-97F8-119AE662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7 review</a:t>
            </a:r>
          </a:p>
        </p:txBody>
      </p:sp>
    </p:spTree>
    <p:extLst>
      <p:ext uri="{BB962C8B-B14F-4D97-AF65-F5344CB8AC3E}">
        <p14:creationId xmlns:p14="http://schemas.microsoft.com/office/powerpoint/2010/main" val="17748491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F1D6C-F339-4FE6-839F-A2C0BE1A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EXIT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A569C-082A-4554-B202-757B0767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Leave with a specific remediation commitment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6D7FE-758D-43A5-BD88-40DC31CC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ECD2E-8F4B-4BC7-ACCE-535AFD6E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concept you can now explain without software-specific language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misconception you corrected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BoK topic or ESRI course you still need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practice-test domain you will target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DCFC4-8275-4FA5-938B-C6561028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87722"/>
                </a:solidFill>
              </a:defRPr>
            </a:pPr>
            <a:r>
              <a:rPr sz="1875" b="1">
                <a:solidFill>
                  <a:srgbClr val="E87722"/>
                </a:solidFill>
              </a:rPr>
              <a:t>Mastery means transferring the reasoning to a new scenario.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E80EE-4D4A-46EE-9625-D0B5C45D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7 review</a:t>
            </a:r>
          </a:p>
        </p:txBody>
      </p:sp>
    </p:spTree>
    <p:extLst>
      <p:ext uri="{BB962C8B-B14F-4D97-AF65-F5344CB8AC3E}">
        <p14:creationId xmlns:p14="http://schemas.microsoft.com/office/powerpoint/2010/main" val="56360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2026-08-27T18:58:27.6480000Z</dcterms:created>
  <dcterms:modified xsi:type="dcterms:W3CDTF">2026-08-27T18:58:27.6480000Z</dcterms:modified>
</coreProperties>
</file>