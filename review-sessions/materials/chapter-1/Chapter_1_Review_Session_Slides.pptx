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350e3f7be841d5" /><Relationship Type="http://schemas.openxmlformats.org/officeDocument/2006/relationships/extended-properties" Target="/docProps/app.xml" Id="Rbd7f17a4fa6d4d3a" /><Relationship Type="http://schemas.openxmlformats.org/officeDocument/2006/relationships/officeDocument" Target="/ppt/presentation.xml" Id="R8b7d731260cc44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ab0a0d305e434e"/>
  </p:sldMasterIdLst>
  <p:notesMasterIdLst>
    <p:notesMasterId xmlns:r="http://schemas.openxmlformats.org/officeDocument/2006/relationships" r:id="R935bf14530e2485c"/>
  </p:notesMasterIdLst>
  <p:sldIdLst>
    <p:sldId xmlns:r="http://schemas.openxmlformats.org/officeDocument/2006/relationships" id="256" r:id="Rbf2808bf500d454d"/>
    <p:sldId xmlns:r="http://schemas.openxmlformats.org/officeDocument/2006/relationships" id="257" r:id="Rbd9e57d7fc324e07"/>
    <p:sldId xmlns:r="http://schemas.openxmlformats.org/officeDocument/2006/relationships" id="258" r:id="Re9210df7d18c4d30"/>
    <p:sldId xmlns:r="http://schemas.openxmlformats.org/officeDocument/2006/relationships" id="259" r:id="R35aad7bc6bc64c9b"/>
    <p:sldId xmlns:r="http://schemas.openxmlformats.org/officeDocument/2006/relationships" id="260" r:id="R1710de9f898243c6"/>
    <p:sldId xmlns:r="http://schemas.openxmlformats.org/officeDocument/2006/relationships" id="261" r:id="Re7ebfaf55794402a"/>
    <p:sldId xmlns:r="http://schemas.openxmlformats.org/officeDocument/2006/relationships" id="262" r:id="R20f8ff3ef74c49b3"/>
    <p:sldId xmlns:r="http://schemas.openxmlformats.org/officeDocument/2006/relationships" id="263" r:id="R137e5c271ce74054"/>
    <p:sldId xmlns:r="http://schemas.openxmlformats.org/officeDocument/2006/relationships" id="264" r:id="Re07bc56d25524c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9051d93f9c4a27" /><Relationship Type="http://schemas.openxmlformats.org/officeDocument/2006/relationships/slideMaster" Target="/ppt/slideMasters/slideMaster1.xml" Id="R24ab0a0d305e434e" /><Relationship Type="http://schemas.openxmlformats.org/officeDocument/2006/relationships/notesMaster" Target="/ppt/notesMasters/notesMaster1.xml" Id="R935bf14530e2485c" /><Relationship Type="http://schemas.openxmlformats.org/officeDocument/2006/relationships/presProps" Target="/ppt/presProps.xml" Id="R3feab29e866e40e5" /><Relationship Type="http://schemas.openxmlformats.org/officeDocument/2006/relationships/tableStyles" Target="/ppt/tableStyles.xml" Id="Rc7035b9bc6b54742" /><Relationship Type="http://schemas.openxmlformats.org/officeDocument/2006/relationships/slide" Target="/ppt/slides/slide1.xml" Id="Rbf2808bf500d454d" /><Relationship Type="http://schemas.openxmlformats.org/officeDocument/2006/relationships/slide" Target="/ppt/slides/slide2.xml" Id="Rbd9e57d7fc324e07" /><Relationship Type="http://schemas.openxmlformats.org/officeDocument/2006/relationships/slide" Target="/ppt/slides/slide3.xml" Id="Re9210df7d18c4d30" /><Relationship Type="http://schemas.openxmlformats.org/officeDocument/2006/relationships/slide" Target="/ppt/slides/slide4.xml" Id="R35aad7bc6bc64c9b" /><Relationship Type="http://schemas.openxmlformats.org/officeDocument/2006/relationships/slide" Target="/ppt/slides/slide5.xml" Id="R1710de9f898243c6" /><Relationship Type="http://schemas.openxmlformats.org/officeDocument/2006/relationships/slide" Target="/ppt/slides/slide6.xml" Id="Re7ebfaf55794402a" /><Relationship Type="http://schemas.openxmlformats.org/officeDocument/2006/relationships/slide" Target="/ppt/slides/slide7.xml" Id="R20f8ff3ef74c49b3" /><Relationship Type="http://schemas.openxmlformats.org/officeDocument/2006/relationships/slide" Target="/ppt/slides/slide8.xml" Id="R137e5c271ce74054" /><Relationship Type="http://schemas.openxmlformats.org/officeDocument/2006/relationships/slide" Target="/ppt/slides/slide9.xml" Id="Re07bc56d25524c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87981481db4e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d57f299ae547cb" /><Relationship Type="http://schemas.openxmlformats.org/officeDocument/2006/relationships/notesMaster" Target="/ppt/notesMasters/notesMaster1.xml" Id="Rcac0d97ac66843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e4e9f780294ea1" /><Relationship Type="http://schemas.openxmlformats.org/officeDocument/2006/relationships/notesMaster" Target="/ppt/notesMasters/notesMaster1.xml" Id="R3010b0a0a80747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bc7e2a86494e11" /><Relationship Type="http://schemas.openxmlformats.org/officeDocument/2006/relationships/notesMaster" Target="/ppt/notesMasters/notesMaster1.xml" Id="Rf44c37c1b02246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76a5903b214e86" /><Relationship Type="http://schemas.openxmlformats.org/officeDocument/2006/relationships/notesMaster" Target="/ppt/notesMasters/notesMaster1.xml" Id="Rd0dd132f48c846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2adcf82274491b" /><Relationship Type="http://schemas.openxmlformats.org/officeDocument/2006/relationships/notesMaster" Target="/ppt/notesMasters/notesMaster1.xml" Id="R87b6aa074bd04f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42595039954479" /><Relationship Type="http://schemas.openxmlformats.org/officeDocument/2006/relationships/notesMaster" Target="/ppt/notesMasters/notesMaster1.xml" Id="R578e4dc1d83048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101408e0724806" /><Relationship Type="http://schemas.openxmlformats.org/officeDocument/2006/relationships/notesMaster" Target="/ppt/notesMasters/notesMaster1.xml" Id="R8066aee5f13440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8d6c3ba73b496b" /><Relationship Type="http://schemas.openxmlformats.org/officeDocument/2006/relationships/notesMaster" Target="/ppt/notesMasters/notesMaster1.xml" Id="R40a8f895822e4b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95d4ee38e343e1" /><Relationship Type="http://schemas.openxmlformats.org/officeDocument/2006/relationships/notesMaster" Target="/ppt/notesMasters/notesMaster1.xml" Id="R8176fd519ad54d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c48f3c5784a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c2d66d721a49a1" /><Relationship Type="http://schemas.openxmlformats.org/officeDocument/2006/relationships/slideLayout" Target="/ppt/slideLayouts/slideLayout1.xml" Id="R0ce9cc3812774c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e9cc3812774c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d992698dc429d" /><Relationship Type="http://schemas.openxmlformats.org/officeDocument/2006/relationships/notesSlide" Target="/ppt/notesSlides/notesSlide1.xml" Id="R72fa7f0ba52946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8ec447d164e01" /><Relationship Type="http://schemas.openxmlformats.org/officeDocument/2006/relationships/notesSlide" Target="/ppt/notesSlides/notesSlide2.xml" Id="R427e840efa2747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df11245e74ed7" /><Relationship Type="http://schemas.openxmlformats.org/officeDocument/2006/relationships/notesSlide" Target="/ppt/notesSlides/notesSlide3.xml" Id="R63bdc6f70f3449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432243ae94b6d" /><Relationship Type="http://schemas.openxmlformats.org/officeDocument/2006/relationships/notesSlide" Target="/ppt/notesSlides/notesSlide4.xml" Id="R92c844a8ff0248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480181ecb4411" /><Relationship Type="http://schemas.openxmlformats.org/officeDocument/2006/relationships/notesSlide" Target="/ppt/notesSlides/notesSlide5.xml" Id="R2364a375221243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80a40f9ea4ea8" /><Relationship Type="http://schemas.openxmlformats.org/officeDocument/2006/relationships/notesSlide" Target="/ppt/notesSlides/notesSlide6.xml" Id="R9eb0f0c994324c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4eb7bfab64e3d" /><Relationship Type="http://schemas.openxmlformats.org/officeDocument/2006/relationships/notesSlide" Target="/ppt/notesSlides/notesSlide7.xml" Id="Raf4c5c505f414f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04831cfa44758" /><Relationship Type="http://schemas.openxmlformats.org/officeDocument/2006/relationships/notesSlide" Target="/ppt/notesSlides/notesSlide8.xml" Id="Rf23376956e6149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e02f0eacd4d5b" /><Relationship Type="http://schemas.openxmlformats.org/officeDocument/2006/relationships/notesSlide" Target="/ppt/notesSlides/notesSlide9.xml" Id="R9148dbf6c3aa4b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F234D-639F-4B68-9EA8-F43C1081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722"/>
                </a:solidFill>
              </a:defRPr>
            </a:pPr>
            <a:r>
              <a:rPr sz="1350" b="1">
                <a:solidFill>
                  <a:srgbClr val="E87722"/>
                </a:solidFill>
              </a:rPr>
              <a:t>WEEKLY REVIEW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5F7C0-31AE-43D0-8661-28F0DC3B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Chapter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13DC3-C36F-40C5-84A0-0CE5016F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Introducing GIS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44970-6F9D-4623-A2A1-DBEE1A03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9D6"/>
                </a:solidFill>
              </a:defRPr>
            </a:pPr>
            <a:r>
              <a:rPr sz="1650" b="0">
                <a:solidFill>
                  <a:srgbClr val="D9D9D6"/>
                </a:solidFill>
              </a:rPr>
              <a:t>Sept 6–12 • Textbook + ESRI training + GIS Book of Knowledge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73A06-5431-4D0F-9C74-C1957800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7722"/>
                </a:solidFill>
              </a:defRPr>
            </a:pPr>
            <a:r>
              <a:rPr sz="1950" b="1">
                <a:solidFill>
                  <a:srgbClr val="E87722"/>
                </a:solidFill>
              </a:rPr>
              <a:t>Arrive ready to explain decisions—not just reproduce clicks.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DED63-A600-4ABF-ACE3-3B57A7C9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1 review</a:t>
            </a:r>
          </a:p>
        </p:txBody>
      </p:sp>
    </p:spTree>
    <p:extLst>
      <p:ext uri="{BB962C8B-B14F-4D97-AF65-F5344CB8AC3E}">
        <p14:creationId xmlns:p14="http://schemas.microsoft.com/office/powerpoint/2010/main" val="651365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7E75C-0DBE-4A72-9030-668215A9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CHAPTER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BB6A1-0BEF-4F33-BC4B-AA3116B9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Connect the chapter exercises to transferable GIS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6FB50-57C6-4189-A979-8CAED196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68FC2-CE1D-445A-AA41-13E53749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Complete Chapter 1: Introducing GIS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Debrief the assigned exercises and compare workflow choices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Translate ArcGIS Pro procedures into software-agnostic GIS concepts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Name assumptions, validation checks and fitness-for-use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82CD0-4A6E-4939-B501-096623E4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1 review</a:t>
            </a:r>
          </a:p>
        </p:txBody>
      </p:sp>
    </p:spTree>
    <p:extLst>
      <p:ext uri="{BB962C8B-B14F-4D97-AF65-F5344CB8AC3E}">
        <p14:creationId xmlns:p14="http://schemas.microsoft.com/office/powerpoint/2010/main" val="151608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53C91-F3AC-4EB3-9D3E-781FC910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COVERAGE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FF372-2CC9-49CD-A719-C43E0BA6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The maximum pathway closes what the textbook cannot cover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40848-9EB5-4C9B-84C8-0B20427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11D25-96F8-4E33-8B0D-53723E2A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2FD69-844F-46A8-BB28-106C3B10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80617-1AD7-49D5-83DD-054C3497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BoK topics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1E905-D91A-4121-82DE-2D081AA1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8F807-04DF-4A78-B76B-D7CEA0DD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2B330-BBC3-4FCB-BBB0-90576B4C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Direct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848D4-8B9D-48D9-9324-AD2EFA3E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B0696-EE74-4913-9673-44423FA6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75F48-BDA2-48BC-914B-9D765B17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Partial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1DCFF-D960-42A0-9047-6EA71D2E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1E9CE-3551-4C1A-A13D-B3D604B1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87722"/>
                </a:solidFill>
              </a:defRPr>
            </a:pPr>
            <a:r>
              <a:rPr sz="3300" b="1">
                <a:solidFill>
                  <a:srgbClr val="E87722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73BF5-B9FC-4094-9C26-6A6B6455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Supplement-only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6A277-2EED-4D03-94A9-EA70BC92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21457-B023-40AF-9DAC-C95D50E2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2AB8F-53CB-44C1-8253-3EB7469F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ESRI courses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6C615-3C87-4E4F-9369-5CE5DBB1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Complete every assigned BoK reading; use all aligned ESRI courses when following the maximum pathway.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8EAE38-61B8-4F59-81D8-D7C7DAF3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1 review</a:t>
            </a:r>
          </a:p>
        </p:txBody>
      </p:sp>
    </p:spTree>
    <p:extLst>
      <p:ext uri="{BB962C8B-B14F-4D97-AF65-F5344CB8AC3E}">
        <p14:creationId xmlns:p14="http://schemas.microsoft.com/office/powerpoint/2010/main" val="20985912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1C893-86CF-47F3-907B-F58525FD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ESRI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A73B2-9C47-4284-AF1B-62343C60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ESRI training to reinforce applied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A3A34-C934-4639-BDB3-1151EC51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33023-C1F2-4018-A51E-AB5A726F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Spatial Analysis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Analysis and modeling in ArcGIS Pro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Creating and Sharing GIS Content Using ArcGIS Online (Advanced/Focused Trainings)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ArcGIS Online Basics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Acquire Data for a GIS Project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Data Management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Introduction to Coordinate Systems (Core Pathway)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9AB6D-948E-425B-8CAE-512E9F8A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1 review</a:t>
            </a:r>
          </a:p>
        </p:txBody>
      </p:sp>
    </p:spTree>
    <p:extLst>
      <p:ext uri="{BB962C8B-B14F-4D97-AF65-F5344CB8AC3E}">
        <p14:creationId xmlns:p14="http://schemas.microsoft.com/office/powerpoint/2010/main" val="2021399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192C8-C33F-4465-AD77-82CC191C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ESRI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5EC92-1B72-489D-836B-9599BE33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Continue the Chapter 1 ESRI pathway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BB6E1-C474-4E42-A4AA-48499C6E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C1E72-E47F-470F-97CD-9CBA4667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Basics of GIS Coordinate Systems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Introduction to Spatial Data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Understanding Spatial Relationships (Core Pathway)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7ADAD-1D9C-4494-9FD7-DFBD49FE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1 review</a:t>
            </a:r>
          </a:p>
        </p:txBody>
      </p:sp>
    </p:spTree>
    <p:extLst>
      <p:ext uri="{BB962C8B-B14F-4D97-AF65-F5344CB8AC3E}">
        <p14:creationId xmlns:p14="http://schemas.microsoft.com/office/powerpoint/2010/main" val="19481364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2AFC2-BC15-4341-8DFC-1F7DD1F4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GIS BOOK OF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5AC06-7A97-46D8-96EB-500024EB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the BoK to supply theory, breadth and missing topics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C979F-3AC2-40D3-A1F1-4F68E674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6336E-27B0-41BE-A33D-52BECE01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Conceptual Foundations: 25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Web-Based GIS: 7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Geospatial Data: 3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Analytical Methods &amp; GeoComputation: 1 topics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AF584-AF1A-4B34-B7CE-DA0496D1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722"/>
                </a:solidFill>
              </a:defRPr>
            </a:pPr>
            <a:r>
              <a:rPr sz="1500" b="1">
                <a:solidFill>
                  <a:srgbClr val="E87722"/>
                </a:solidFill>
              </a:rPr>
              <a:t>Partial and supplement-only topics require focused BoK study.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90D95-EC07-4226-97EA-C813C5F0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1 review</a:t>
            </a:r>
          </a:p>
        </p:txBody>
      </p:sp>
    </p:spTree>
    <p:extLst>
      <p:ext uri="{BB962C8B-B14F-4D97-AF65-F5344CB8AC3E}">
        <p14:creationId xmlns:p14="http://schemas.microsoft.com/office/powerpoint/2010/main" val="8660358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DE95D-6EE6-49A2-9090-816581FE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RETRIEVAL PROMPTS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AE5F6-610C-43B9-B2E3-4416DA80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Explain the concept before naming the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0F570-00F3-459C-8395-ECA27F09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31EF2-FA5D-4311-A7A7-949C95FE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Define GIS without naming a software product. What capabilities make a system a GIS?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Distinguish a geographic object, field, network, event and place using original examples.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What benefits and limitations arise when GIS work is delivered through ArcGIS Online?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035F1-54AA-4A7D-9C37-1FA565B3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1 review</a:t>
            </a:r>
          </a:p>
        </p:txBody>
      </p:sp>
    </p:spTree>
    <p:extLst>
      <p:ext uri="{BB962C8B-B14F-4D97-AF65-F5344CB8AC3E}">
        <p14:creationId xmlns:p14="http://schemas.microsoft.com/office/powerpoint/2010/main" val="5382153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5B294-4922-4FC1-93FA-9430E1AA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722"/>
                </a:solidFill>
              </a:defRPr>
            </a:pPr>
            <a:r>
              <a:rPr sz="1200" b="1">
                <a:solidFill>
                  <a:srgbClr val="E87722"/>
                </a:solidFill>
              </a:rPr>
              <a:t>INTEGRATED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B865A-600B-41A7-93CF-1D7D48EB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Build and defend a complete GIS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CB059-501D-406C-84C0-09AE7757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DA8FD-29BF-430F-B638-22B79751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A campus team wants a public map of accessible entrances. Define the geographic question, data representation, platform and limitations before opening software.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CCE88-9273-43F8-B629-D3B89253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State the question • choose data and methods • expose assumptions • validate • communicate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97928-0892-4B1C-BF8B-F3FA2D7B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1 review</a:t>
            </a:r>
          </a:p>
        </p:txBody>
      </p:sp>
    </p:spTree>
    <p:extLst>
      <p:ext uri="{BB962C8B-B14F-4D97-AF65-F5344CB8AC3E}">
        <p14:creationId xmlns:p14="http://schemas.microsoft.com/office/powerpoint/2010/main" val="16401983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B9296-491E-4C45-BF6B-5D24B7F1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EXIT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894B0-632B-44A2-8479-E6349A11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Leave with a specific remediation commitment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6D87C-352F-433C-898B-D217A153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F6630-FEF4-499A-9287-73B8C45E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concept you can now explain without software-specific language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misconception you corrected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BoK topic or ESRI course you still need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practice-test domain you will target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66D03-71A3-430B-B759-CF832B85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87722"/>
                </a:solidFill>
              </a:defRPr>
            </a:pPr>
            <a:r>
              <a:rPr sz="1875" b="1">
                <a:solidFill>
                  <a:srgbClr val="E87722"/>
                </a:solidFill>
              </a:rPr>
              <a:t>Mastery means transferring the reasoning to a new scenario.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B6090-702F-41CA-ABE9-3921D850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1 review</a:t>
            </a:r>
          </a:p>
        </p:txBody>
      </p:sp>
    </p:spTree>
    <p:extLst>
      <p:ext uri="{BB962C8B-B14F-4D97-AF65-F5344CB8AC3E}">
        <p14:creationId xmlns:p14="http://schemas.microsoft.com/office/powerpoint/2010/main" val="605684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2026-08-27T18:58:26.4570000Z</dcterms:created>
  <dcterms:modified xsi:type="dcterms:W3CDTF">2026-08-27T18:58:26.4570000Z</dcterms:modified>
</coreProperties>
</file>